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77639"/>
            <a:ext cx="12191695" cy="5486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74519"/>
            <a:ext cx="10698480" cy="2011680"/>
          </a:xfrm>
          <a:prstGeom prst="rect">
            <a:avLst/>
          </a:prstGeom>
          <a:noFill/>
        </p:spPr>
        <p:txBody>
          <a:bodyPr wrap="square" lIns="0" rIns="0">
            <a:spAutoFit/>
          </a:bodyPr>
          <a:lstStyle/>
          <a:p>
            <a:pPr algn="l">
              <a:lnSpc>
                <a:spcPct val="115000"/>
              </a:lnSpc>
              <a:spcAft>
                <a:spcPts val="600"/>
              </a:spcAft>
            </a:pPr>
            <a:r>
              <a:rPr sz="3300" b="1">
                <a:solidFill>
                  <a:srgbClr val="FFFFFF"/>
                </a:solidFill>
                <a:latin typeface="Arial"/>
              </a:rPr>
              <a:t>TĂNG CƯỜNG DỮ LIỆU ẢNH GIAO THÔNG</a:t>
            </a:r>
          </a:p>
          <a:p>
            <a:pPr algn="l">
              <a:lnSpc>
                <a:spcPct val="115000"/>
              </a:lnSpc>
              <a:spcAft>
                <a:spcPts val="600"/>
              </a:spcAft>
            </a:pPr>
            <a:r>
              <a:rPr sz="3300" b="1">
                <a:solidFill>
                  <a:srgbClr val="18A099"/>
                </a:solidFill>
                <a:latin typeface="Arial"/>
              </a:rPr>
              <a:t>BẰNG CHUYỂN PHONG CÁCH THỜI TIẾT</a:t>
            </a:r>
          </a:p>
        </p:txBody>
      </p:sp>
      <p:sp>
        <p:nvSpPr>
          <p:cNvPr id="5" name="TextBox 4"/>
          <p:cNvSpPr txBox="1"/>
          <p:nvPr/>
        </p:nvSpPr>
        <p:spPr>
          <a:xfrm>
            <a:off x="822960" y="4224528"/>
            <a:ext cx="10698480" cy="914400"/>
          </a:xfrm>
          <a:prstGeom prst="rect">
            <a:avLst/>
          </a:prstGeom>
          <a:noFill/>
        </p:spPr>
        <p:txBody>
          <a:bodyPr wrap="square" lIns="0" rIns="0">
            <a:spAutoFit/>
          </a:bodyPr>
          <a:lstStyle/>
          <a:p>
            <a:pPr algn="l">
              <a:lnSpc>
                <a:spcPct val="115000"/>
              </a:lnSpc>
              <a:spcAft>
                <a:spcPts val="600"/>
              </a:spcAft>
            </a:pPr>
            <a:r>
              <a:rPr sz="1600" b="0">
                <a:solidFill>
                  <a:srgbClr val="C8D2E4"/>
                </a:solidFill>
                <a:latin typeface="Arial"/>
              </a:rPr>
              <a:t>Đầu vào: 1 ảnh giao thông trời quang  +  1 ảnh tham chiếu thời tiết</a:t>
            </a:r>
          </a:p>
          <a:p>
            <a:pPr algn="l">
              <a:lnSpc>
                <a:spcPct val="115000"/>
              </a:lnSpc>
              <a:spcAft>
                <a:spcPts val="600"/>
              </a:spcAft>
            </a:pPr>
            <a:r>
              <a:rPr sz="1600" b="0">
                <a:solidFill>
                  <a:srgbClr val="C8D2E4"/>
                </a:solidFill>
                <a:latin typeface="Arial"/>
              </a:rPr>
              <a:t>Đầu ra: ảnh giao thông dưới thời tiết xấu — giữ nguyên nhãn bounding box</a:t>
            </a:r>
          </a:p>
        </p:txBody>
      </p:sp>
      <p:sp>
        <p:nvSpPr>
          <p:cNvPr id="6" name="Rectangle 5"/>
          <p:cNvSpPr/>
          <p:nvPr/>
        </p:nvSpPr>
        <p:spPr>
          <a:xfrm>
            <a:off x="822960" y="5440680"/>
            <a:ext cx="54864" cy="914400"/>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413248"/>
            <a:ext cx="10424160" cy="1005840"/>
          </a:xfrm>
          <a:prstGeom prst="rect">
            <a:avLst/>
          </a:prstGeom>
          <a:noFill/>
        </p:spPr>
        <p:txBody>
          <a:bodyPr wrap="square" lIns="0" rIns="0">
            <a:spAutoFit/>
          </a:bodyPr>
          <a:lstStyle/>
          <a:p>
            <a:pPr algn="l">
              <a:lnSpc>
                <a:spcPct val="115000"/>
              </a:lnSpc>
              <a:spcAft>
                <a:spcPts val="600"/>
              </a:spcAft>
            </a:pPr>
            <a:r>
              <a:rPr sz="1500" b="1">
                <a:solidFill>
                  <a:srgbClr val="18A099"/>
                </a:solidFill>
                <a:latin typeface="Arial"/>
              </a:rPr>
              <a:t>NHÓM 6  ·  Bài tập cuối khoá — Deep Learning Ứng dụng</a:t>
            </a:r>
          </a:p>
          <a:p>
            <a:pPr algn="l">
              <a:lnSpc>
                <a:spcPct val="115000"/>
              </a:lnSpc>
              <a:spcAft>
                <a:spcPts val="600"/>
              </a:spcAft>
            </a:pPr>
            <a:r>
              <a:rPr sz="1400" b="0">
                <a:solidFill>
                  <a:srgbClr val="C8D2E4"/>
                </a:solidFill>
                <a:latin typeface="Arial"/>
              </a:rPr>
              <a:t>Hoàng Minh Đức  ·  Trần Quý Đạt  ·  Hoàng Trung Kiên  ·  Vũ Thuỳ Linh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292"/>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424160" cy="822960"/>
          </a:xfrm>
          <a:prstGeom prst="rect">
            <a:avLst/>
          </a:prstGeom>
          <a:noFill/>
        </p:spPr>
        <p:txBody>
          <a:bodyPr wrap="square" lIns="0" rIns="0">
            <a:spAutoFit/>
          </a:bodyPr>
          <a:lstStyle/>
          <a:p>
            <a:pPr algn="l">
              <a:lnSpc>
                <a:spcPct val="115000"/>
              </a:lnSpc>
              <a:spcAft>
                <a:spcPts val="600"/>
              </a:spcAft>
            </a:pPr>
            <a:r>
              <a:rPr sz="2700" b="1">
                <a:solidFill>
                  <a:srgbClr val="FFFFFF"/>
                </a:solidFill>
                <a:latin typeface="Arial"/>
              </a:rPr>
              <a:t>Bài toán &amp; động lực</a:t>
            </a:r>
          </a:p>
          <a:p>
            <a:pPr algn="l">
              <a:lnSpc>
                <a:spcPct val="115000"/>
              </a:lnSpc>
              <a:spcAft>
                <a:spcPts val="600"/>
              </a:spcAft>
            </a:pPr>
            <a:r>
              <a:rPr sz="1300" b="0">
                <a:solidFill>
                  <a:srgbClr val="B6C2D9"/>
                </a:solidFill>
                <a:latin typeface="Arial"/>
              </a:rPr>
              <a:t>Vì sao cần tăng cường dữ liệu thời tiết?</a:t>
            </a:r>
          </a:p>
        </p:txBody>
      </p:sp>
      <p:sp>
        <p:nvSpPr>
          <p:cNvPr id="5" name="TextBox 4"/>
          <p:cNvSpPr txBox="1"/>
          <p:nvPr/>
        </p:nvSpPr>
        <p:spPr>
          <a:xfrm>
            <a:off x="11155680" y="6355080"/>
            <a:ext cx="822960" cy="365760"/>
          </a:xfrm>
          <a:prstGeom prst="rect">
            <a:avLst/>
          </a:prstGeom>
          <a:noFill/>
        </p:spPr>
        <p:txBody>
          <a:bodyPr wrap="square" lIns="0" rIns="0">
            <a:spAutoFit/>
          </a:bodyPr>
          <a:lstStyle/>
          <a:p>
            <a:pPr algn="r">
              <a:lnSpc>
                <a:spcPct val="115000"/>
              </a:lnSpc>
              <a:spcAft>
                <a:spcPts val="600"/>
              </a:spcAft>
            </a:pPr>
            <a:r>
              <a:rPr sz="1100" b="0">
                <a:solidFill>
                  <a:srgbClr val="5A6375"/>
                </a:solidFill>
                <a:latin typeface="Arial"/>
              </a:rPr>
              <a:t>1</a:t>
            </a:r>
          </a:p>
        </p:txBody>
      </p:sp>
      <p:sp>
        <p:nvSpPr>
          <p:cNvPr id="6" name="Rectangle 5"/>
          <p:cNvSpPr/>
          <p:nvPr/>
        </p:nvSpPr>
        <p:spPr>
          <a:xfrm>
            <a:off x="640080" y="1517904"/>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5577840" cy="548640"/>
          </a:xfrm>
          <a:prstGeom prst="rect">
            <a:avLst/>
          </a:prstGeom>
          <a:noFill/>
        </p:spPr>
        <p:txBody>
          <a:bodyPr wrap="square" lIns="0" rIns="0">
            <a:spAutoFit/>
          </a:bodyPr>
          <a:lstStyle/>
          <a:p>
            <a:pPr algn="l">
              <a:lnSpc>
                <a:spcPct val="115000"/>
              </a:lnSpc>
              <a:spcAft>
                <a:spcPts val="600"/>
              </a:spcAft>
            </a:pPr>
            <a:r>
              <a:rPr sz="1600" b="1">
                <a:solidFill>
                  <a:srgbClr val="101B33"/>
                </a:solidFill>
                <a:latin typeface="Arial"/>
              </a:rPr>
              <a:t>Detector suy giảm mạnh khi thời tiết xấu.</a:t>
            </a:r>
          </a:p>
        </p:txBody>
      </p:sp>
      <p:sp>
        <p:nvSpPr>
          <p:cNvPr id="8" name="Rectangle 7"/>
          <p:cNvSpPr/>
          <p:nvPr/>
        </p:nvSpPr>
        <p:spPr>
          <a:xfrm>
            <a:off x="640080" y="2084832"/>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84248"/>
            <a:ext cx="5577840" cy="548640"/>
          </a:xfrm>
          <a:prstGeom prst="rect">
            <a:avLst/>
          </a:prstGeom>
          <a:noFill/>
        </p:spPr>
        <p:txBody>
          <a:bodyPr wrap="square" lIns="0" rIns="0">
            <a:spAutoFit/>
          </a:bodyPr>
          <a:lstStyle/>
          <a:p>
            <a:pPr algn="l">
              <a:lnSpc>
                <a:spcPct val="115000"/>
              </a:lnSpc>
              <a:spcAft>
                <a:spcPts val="600"/>
              </a:spcAft>
            </a:pPr>
            <a:r>
              <a:rPr sz="1600" b="0">
                <a:solidFill>
                  <a:srgbClr val="101B33"/>
                </a:solidFill>
                <a:latin typeface="Arial"/>
              </a:rPr>
              <a:t>Dữ liệu huấn luyện lệch nặng về ảnh trời quang.</a:t>
            </a:r>
          </a:p>
        </p:txBody>
      </p:sp>
      <p:sp>
        <p:nvSpPr>
          <p:cNvPr id="10" name="Rectangle 9"/>
          <p:cNvSpPr/>
          <p:nvPr/>
        </p:nvSpPr>
        <p:spPr>
          <a:xfrm>
            <a:off x="640080" y="2651760"/>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551176"/>
            <a:ext cx="5577840" cy="548640"/>
          </a:xfrm>
          <a:prstGeom prst="rect">
            <a:avLst/>
          </a:prstGeom>
          <a:noFill/>
        </p:spPr>
        <p:txBody>
          <a:bodyPr wrap="square" lIns="0" rIns="0">
            <a:spAutoFit/>
          </a:bodyPr>
          <a:lstStyle/>
          <a:p>
            <a:pPr algn="l">
              <a:lnSpc>
                <a:spcPct val="115000"/>
              </a:lnSpc>
              <a:spcAft>
                <a:spcPts val="600"/>
              </a:spcAft>
            </a:pPr>
            <a:r>
              <a:rPr sz="1600" b="0">
                <a:solidFill>
                  <a:srgbClr val="101B33"/>
                </a:solidFill>
                <a:latin typeface="Arial"/>
              </a:rPr>
              <a:t>BDD100K: ảnh mưa/tuyết ban ngày chỉ ~8%.</a:t>
            </a:r>
          </a:p>
        </p:txBody>
      </p:sp>
      <p:sp>
        <p:nvSpPr>
          <p:cNvPr id="12" name="Rectangle 11"/>
          <p:cNvSpPr/>
          <p:nvPr/>
        </p:nvSpPr>
        <p:spPr>
          <a:xfrm>
            <a:off x="640080" y="3218688"/>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18104"/>
            <a:ext cx="5577840" cy="548640"/>
          </a:xfrm>
          <a:prstGeom prst="rect">
            <a:avLst/>
          </a:prstGeom>
          <a:noFill/>
        </p:spPr>
        <p:txBody>
          <a:bodyPr wrap="square" lIns="0" rIns="0">
            <a:spAutoFit/>
          </a:bodyPr>
          <a:lstStyle/>
          <a:p>
            <a:pPr algn="l">
              <a:lnSpc>
                <a:spcPct val="115000"/>
              </a:lnSpc>
              <a:spcAft>
                <a:spcPts val="600"/>
              </a:spcAft>
            </a:pPr>
            <a:r>
              <a:rPr sz="1600" b="1">
                <a:solidFill>
                  <a:srgbClr val="101B33"/>
                </a:solidFill>
                <a:latin typeface="Arial"/>
              </a:rPr>
              <a:t>Thu thập ảnh thời tiết xấu rất tốn kém.</a:t>
            </a:r>
          </a:p>
        </p:txBody>
      </p:sp>
      <p:sp>
        <p:nvSpPr>
          <p:cNvPr id="14" name="Rectangle 13"/>
          <p:cNvSpPr/>
          <p:nvPr/>
        </p:nvSpPr>
        <p:spPr>
          <a:xfrm>
            <a:off x="640080" y="3785616"/>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685032"/>
            <a:ext cx="5577840" cy="548640"/>
          </a:xfrm>
          <a:prstGeom prst="rect">
            <a:avLst/>
          </a:prstGeom>
          <a:noFill/>
        </p:spPr>
        <p:txBody>
          <a:bodyPr wrap="square" lIns="0" rIns="0">
            <a:spAutoFit/>
          </a:bodyPr>
          <a:lstStyle/>
          <a:p>
            <a:pPr algn="l">
              <a:lnSpc>
                <a:spcPct val="115000"/>
              </a:lnSpc>
              <a:spcAft>
                <a:spcPts val="600"/>
              </a:spcAft>
            </a:pPr>
            <a:r>
              <a:rPr sz="1600" b="0">
                <a:solidFill>
                  <a:srgbClr val="101B33"/>
                </a:solidFill>
                <a:latin typeface="Arial"/>
              </a:rPr>
              <a:t>Phải chờ đúng thời tiết + gán nhãn lại từ đầu.</a:t>
            </a:r>
          </a:p>
        </p:txBody>
      </p:sp>
      <p:sp>
        <p:nvSpPr>
          <p:cNvPr id="16" name="Rectangle 15"/>
          <p:cNvSpPr/>
          <p:nvPr/>
        </p:nvSpPr>
        <p:spPr>
          <a:xfrm>
            <a:off x="640080" y="4352544"/>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251960"/>
            <a:ext cx="5577840" cy="548640"/>
          </a:xfrm>
          <a:prstGeom prst="rect">
            <a:avLst/>
          </a:prstGeom>
          <a:noFill/>
        </p:spPr>
        <p:txBody>
          <a:bodyPr wrap="square" lIns="0" rIns="0">
            <a:spAutoFit/>
          </a:bodyPr>
          <a:lstStyle/>
          <a:p>
            <a:pPr algn="l">
              <a:lnSpc>
                <a:spcPct val="115000"/>
              </a:lnSpc>
              <a:spcAft>
                <a:spcPts val="600"/>
              </a:spcAft>
            </a:pPr>
            <a:r>
              <a:rPr sz="1600" b="1">
                <a:solidFill>
                  <a:srgbClr val="101B33"/>
                </a:solidFill>
                <a:latin typeface="Arial"/>
              </a:rPr>
              <a:t>Giải pháp: sinh ảnh từ dữ liệu đã có nhãn.</a:t>
            </a:r>
          </a:p>
        </p:txBody>
      </p:sp>
      <p:sp>
        <p:nvSpPr>
          <p:cNvPr id="18" name="Rectangle 17"/>
          <p:cNvSpPr/>
          <p:nvPr/>
        </p:nvSpPr>
        <p:spPr>
          <a:xfrm>
            <a:off x="640080" y="4919472"/>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818888"/>
            <a:ext cx="5577840" cy="548640"/>
          </a:xfrm>
          <a:prstGeom prst="rect">
            <a:avLst/>
          </a:prstGeom>
          <a:noFill/>
        </p:spPr>
        <p:txBody>
          <a:bodyPr wrap="square" lIns="0" rIns="0">
            <a:spAutoFit/>
          </a:bodyPr>
          <a:lstStyle/>
          <a:p>
            <a:pPr algn="l">
              <a:lnSpc>
                <a:spcPct val="115000"/>
              </a:lnSpc>
              <a:spcAft>
                <a:spcPts val="600"/>
              </a:spcAft>
            </a:pPr>
            <a:r>
              <a:rPr sz="1600" b="0">
                <a:solidFill>
                  <a:srgbClr val="101B33"/>
                </a:solidFill>
                <a:latin typeface="Arial"/>
              </a:rPr>
              <a:t>Chi phí gán nhãn cho dữ liệu mới bằng 0.</a:t>
            </a:r>
          </a:p>
        </p:txBody>
      </p:sp>
      <p:sp>
        <p:nvSpPr>
          <p:cNvPr id="20" name="Rectangle 19"/>
          <p:cNvSpPr/>
          <p:nvPr/>
        </p:nvSpPr>
        <p:spPr>
          <a:xfrm>
            <a:off x="6492240" y="1463040"/>
            <a:ext cx="5120640" cy="13716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92240" y="1463040"/>
            <a:ext cx="64008" cy="1371600"/>
          </a:xfrm>
          <a:prstGeom prst="rect">
            <a:avLst/>
          </a:prstGeom>
          <a:solidFill>
            <a:srgbClr val="2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48272" y="1627632"/>
            <a:ext cx="4663440" cy="1371600"/>
          </a:xfrm>
          <a:prstGeom prst="rect">
            <a:avLst/>
          </a:prstGeom>
          <a:noFill/>
        </p:spPr>
        <p:txBody>
          <a:bodyPr wrap="square" lIns="0" rIns="0">
            <a:spAutoFit/>
          </a:bodyPr>
          <a:lstStyle/>
          <a:p>
            <a:pPr algn="l">
              <a:lnSpc>
                <a:spcPct val="115000"/>
              </a:lnSpc>
              <a:spcAft>
                <a:spcPts val="600"/>
              </a:spcAft>
            </a:pPr>
            <a:r>
              <a:rPr sz="1600" b="1">
                <a:solidFill>
                  <a:srgbClr val="101B33"/>
                </a:solidFill>
                <a:latin typeface="Arial"/>
              </a:rPr>
              <a:t>ĐẦU VÀO</a:t>
            </a:r>
          </a:p>
          <a:p>
            <a:pPr algn="l">
              <a:lnSpc>
                <a:spcPct val="115000"/>
              </a:lnSpc>
              <a:spcAft>
                <a:spcPts val="600"/>
              </a:spcAft>
            </a:pPr>
            <a:r>
              <a:rPr sz="1300" b="0">
                <a:solidFill>
                  <a:srgbClr val="5A6375"/>
                </a:solidFill>
                <a:latin typeface="Arial"/>
              </a:rPr>
              <a:t>1 ảnh giao thông điều kiện bình thường
+ 1 ảnh tham chiếu thời tiết (mưa/tuyết/sương mù/mù khô/bão cát)</a:t>
            </a:r>
          </a:p>
        </p:txBody>
      </p:sp>
      <p:sp>
        <p:nvSpPr>
          <p:cNvPr id="23" name="Rectangle 22"/>
          <p:cNvSpPr/>
          <p:nvPr/>
        </p:nvSpPr>
        <p:spPr>
          <a:xfrm>
            <a:off x="6492240" y="3017520"/>
            <a:ext cx="5120640" cy="13716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92240" y="3017520"/>
            <a:ext cx="64008" cy="1371600"/>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48272" y="3182112"/>
            <a:ext cx="4663440" cy="1371600"/>
          </a:xfrm>
          <a:prstGeom prst="rect">
            <a:avLst/>
          </a:prstGeom>
          <a:noFill/>
        </p:spPr>
        <p:txBody>
          <a:bodyPr wrap="square" lIns="0" rIns="0">
            <a:spAutoFit/>
          </a:bodyPr>
          <a:lstStyle/>
          <a:p>
            <a:pPr algn="l">
              <a:lnSpc>
                <a:spcPct val="115000"/>
              </a:lnSpc>
              <a:spcAft>
                <a:spcPts val="600"/>
              </a:spcAft>
            </a:pPr>
            <a:r>
              <a:rPr sz="1600" b="1">
                <a:solidFill>
                  <a:srgbClr val="101B33"/>
                </a:solidFill>
                <a:latin typeface="Arial"/>
              </a:rPr>
              <a:t>ĐẦU RA</a:t>
            </a:r>
          </a:p>
          <a:p>
            <a:pPr algn="l">
              <a:lnSpc>
                <a:spcPct val="115000"/>
              </a:lnSpc>
              <a:spcAft>
                <a:spcPts val="600"/>
              </a:spcAft>
            </a:pPr>
            <a:r>
              <a:rPr sz="1300" b="0">
                <a:solidFill>
                  <a:srgbClr val="5A6375"/>
                </a:solidFill>
                <a:latin typeface="Arial"/>
              </a:rPr>
              <a:t>Chính ảnh giao thông đó dưới điều kiện thời tiết mong muốn,
nhãn bounding box giữ nguyên 100%</a:t>
            </a:r>
          </a:p>
        </p:txBody>
      </p:sp>
      <p:sp>
        <p:nvSpPr>
          <p:cNvPr id="26" name="Rectangle 25"/>
          <p:cNvSpPr/>
          <p:nvPr/>
        </p:nvSpPr>
        <p:spPr>
          <a:xfrm>
            <a:off x="6492240" y="4572000"/>
            <a:ext cx="5120640" cy="146304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0" y="4572000"/>
            <a:ext cx="64008" cy="1463040"/>
          </a:xfrm>
          <a:prstGeom prst="rect">
            <a:avLst/>
          </a:prstGeom>
          <a:solidFill>
            <a:srgbClr val="E4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48272" y="4736592"/>
            <a:ext cx="4663440" cy="1463040"/>
          </a:xfrm>
          <a:prstGeom prst="rect">
            <a:avLst/>
          </a:prstGeom>
          <a:noFill/>
        </p:spPr>
        <p:txBody>
          <a:bodyPr wrap="square" lIns="0" rIns="0">
            <a:spAutoFit/>
          </a:bodyPr>
          <a:lstStyle/>
          <a:p>
            <a:pPr algn="l">
              <a:lnSpc>
                <a:spcPct val="115000"/>
              </a:lnSpc>
              <a:spcAft>
                <a:spcPts val="600"/>
              </a:spcAft>
            </a:pPr>
            <a:r>
              <a:rPr sz="1600" b="1">
                <a:solidFill>
                  <a:srgbClr val="101B33"/>
                </a:solidFill>
                <a:latin typeface="Arial"/>
              </a:rPr>
              <a:t>RÀNG BUỘC</a:t>
            </a:r>
          </a:p>
          <a:p>
            <a:pPr algn="l">
              <a:lnSpc>
                <a:spcPct val="115000"/>
              </a:lnSpc>
              <a:spcAft>
                <a:spcPts val="600"/>
              </a:spcAft>
            </a:pPr>
            <a:r>
              <a:rPr sz="1300" b="0">
                <a:solidFill>
                  <a:srgbClr val="5A6375"/>
                </a:solidFill>
                <a:latin typeface="Arial"/>
              </a:rPr>
              <a:t>· Mã nguồn mở  · Huấn luyện được trên 1 GPU
· Suy luận thời gian thực  · Dễ giải thích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292"/>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424160" cy="822960"/>
          </a:xfrm>
          <a:prstGeom prst="rect">
            <a:avLst/>
          </a:prstGeom>
          <a:noFill/>
        </p:spPr>
        <p:txBody>
          <a:bodyPr wrap="square" lIns="0" rIns="0">
            <a:spAutoFit/>
          </a:bodyPr>
          <a:lstStyle/>
          <a:p>
            <a:pPr algn="l">
              <a:lnSpc>
                <a:spcPct val="115000"/>
              </a:lnSpc>
              <a:spcAft>
                <a:spcPts val="600"/>
              </a:spcAft>
            </a:pPr>
            <a:r>
              <a:rPr sz="2700" b="1">
                <a:solidFill>
                  <a:srgbClr val="FFFFFF"/>
                </a:solidFill>
                <a:latin typeface="Arial"/>
              </a:rPr>
              <a:t>Dữ liệu</a:t>
            </a:r>
          </a:p>
          <a:p>
            <a:pPr algn="l">
              <a:lnSpc>
                <a:spcPct val="115000"/>
              </a:lnSpc>
              <a:spcAft>
                <a:spcPts val="600"/>
              </a:spcAft>
            </a:pPr>
            <a:r>
              <a:rPr sz="1300" b="0">
                <a:solidFill>
                  <a:srgbClr val="B6C2D9"/>
                </a:solidFill>
                <a:latin typeface="Arial"/>
              </a:rPr>
              <a:t>Hai bộ dữ liệu công khai, tải tự động, không cần đăng ký</a:t>
            </a:r>
          </a:p>
        </p:txBody>
      </p:sp>
      <p:sp>
        <p:nvSpPr>
          <p:cNvPr id="5" name="TextBox 4"/>
          <p:cNvSpPr txBox="1"/>
          <p:nvPr/>
        </p:nvSpPr>
        <p:spPr>
          <a:xfrm>
            <a:off x="11155680" y="6355080"/>
            <a:ext cx="822960" cy="365760"/>
          </a:xfrm>
          <a:prstGeom prst="rect">
            <a:avLst/>
          </a:prstGeom>
          <a:noFill/>
        </p:spPr>
        <p:txBody>
          <a:bodyPr wrap="square" lIns="0" rIns="0">
            <a:spAutoFit/>
          </a:bodyPr>
          <a:lstStyle/>
          <a:p>
            <a:pPr algn="r">
              <a:lnSpc>
                <a:spcPct val="115000"/>
              </a:lnSpc>
              <a:spcAft>
                <a:spcPts val="600"/>
              </a:spcAft>
            </a:pPr>
            <a:r>
              <a:rPr sz="1100" b="0">
                <a:solidFill>
                  <a:srgbClr val="5A6375"/>
                </a:solidFill>
                <a:latin typeface="Arial"/>
              </a:rPr>
              <a:t>2</a:t>
            </a:r>
          </a:p>
        </p:txBody>
      </p:sp>
      <p:pic>
        <p:nvPicPr>
          <p:cNvPr id="6" name="Picture 5" descr="fig_dataset.png"/>
          <p:cNvPicPr>
            <a:picLocks noChangeAspect="1"/>
          </p:cNvPicPr>
          <p:nvPr/>
        </p:nvPicPr>
        <p:blipFill>
          <a:blip r:embed="rId2"/>
          <a:stretch>
            <a:fillRect/>
          </a:stretch>
        </p:blipFill>
        <p:spPr>
          <a:xfrm>
            <a:off x="838775" y="1188720"/>
            <a:ext cx="10483969" cy="2743199"/>
          </a:xfrm>
          <a:prstGeom prst="rect">
            <a:avLst/>
          </a:prstGeom>
        </p:spPr>
      </p:pic>
      <p:sp>
        <p:nvSpPr>
          <p:cNvPr id="7" name="TextBox 6"/>
          <p:cNvSpPr txBox="1"/>
          <p:nvPr/>
        </p:nvSpPr>
        <p:spPr>
          <a:xfrm>
            <a:off x="685800" y="3977639"/>
            <a:ext cx="10789920" cy="365760"/>
          </a:xfrm>
          <a:prstGeom prst="rect">
            <a:avLst/>
          </a:prstGeom>
          <a:noFill/>
        </p:spPr>
        <p:txBody>
          <a:bodyPr wrap="square" lIns="0" rIns="0">
            <a:spAutoFit/>
          </a:bodyPr>
          <a:lstStyle/>
          <a:p>
            <a:pPr algn="l">
              <a:lnSpc>
                <a:spcPct val="115000"/>
              </a:lnSpc>
              <a:spcAft>
                <a:spcPts val="600"/>
              </a:spcAft>
            </a:pPr>
            <a:r>
              <a:rPr sz="1300" b="0">
                <a:solidFill>
                  <a:srgbClr val="5A6375"/>
                </a:solidFill>
                <a:latin typeface="Arial"/>
              </a:rPr>
              <a:t>Biểu đồ = kho 10.000 ảnh có sẵn để chọn.   Bảng = số ảnh đã LỌC RA và thực sự dùng (chỉ lấy ban ngày, giới hạn số lượng cho nhẹ).</a:t>
            </a:r>
          </a:p>
        </p:txBody>
      </p:sp>
      <p:sp>
        <p:nvSpPr>
          <p:cNvPr id="8" name="Rectangle 7"/>
          <p:cNvSpPr/>
          <p:nvPr/>
        </p:nvSpPr>
        <p:spPr>
          <a:xfrm>
            <a:off x="685800" y="4407408"/>
            <a:ext cx="10789920" cy="384048"/>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4471416"/>
            <a:ext cx="2790496" cy="384048"/>
          </a:xfrm>
          <a:prstGeom prst="rect">
            <a:avLst/>
          </a:prstGeom>
          <a:noFill/>
        </p:spPr>
        <p:txBody>
          <a:bodyPr wrap="square" lIns="0" rIns="0">
            <a:spAutoFit/>
          </a:bodyPr>
          <a:lstStyle/>
          <a:p>
            <a:pPr algn="l">
              <a:lnSpc>
                <a:spcPct val="115000"/>
              </a:lnSpc>
              <a:spcAft>
                <a:spcPts val="600"/>
              </a:spcAft>
            </a:pPr>
            <a:r>
              <a:rPr sz="1200" b="1">
                <a:solidFill>
                  <a:srgbClr val="FFFFFF"/>
                </a:solidFill>
                <a:latin typeface="Arial"/>
              </a:rPr>
              <a:t>Đã chọn ra từ kho</a:t>
            </a:r>
          </a:p>
        </p:txBody>
      </p:sp>
      <p:sp>
        <p:nvSpPr>
          <p:cNvPr id="10" name="TextBox 9"/>
          <p:cNvSpPr txBox="1"/>
          <p:nvPr/>
        </p:nvSpPr>
        <p:spPr>
          <a:xfrm>
            <a:off x="3586024" y="4471416"/>
            <a:ext cx="4650827" cy="384048"/>
          </a:xfrm>
          <a:prstGeom prst="rect">
            <a:avLst/>
          </a:prstGeom>
          <a:noFill/>
        </p:spPr>
        <p:txBody>
          <a:bodyPr wrap="square" lIns="0" rIns="0">
            <a:spAutoFit/>
          </a:bodyPr>
          <a:lstStyle/>
          <a:p>
            <a:pPr algn="l">
              <a:lnSpc>
                <a:spcPct val="115000"/>
              </a:lnSpc>
              <a:spcAft>
                <a:spcPts val="600"/>
              </a:spcAft>
            </a:pPr>
            <a:r>
              <a:rPr sz="1200" b="1">
                <a:solidFill>
                  <a:srgbClr val="FFFFFF"/>
                </a:solidFill>
                <a:latin typeface="Arial"/>
              </a:rPr>
              <a:t>Vai trò</a:t>
            </a:r>
          </a:p>
        </p:txBody>
      </p:sp>
      <p:sp>
        <p:nvSpPr>
          <p:cNvPr id="11" name="TextBox 10"/>
          <p:cNvSpPr txBox="1"/>
          <p:nvPr/>
        </p:nvSpPr>
        <p:spPr>
          <a:xfrm>
            <a:off x="8236851" y="4471416"/>
            <a:ext cx="1581281" cy="384048"/>
          </a:xfrm>
          <a:prstGeom prst="rect">
            <a:avLst/>
          </a:prstGeom>
          <a:noFill/>
        </p:spPr>
        <p:txBody>
          <a:bodyPr wrap="square" lIns="0" rIns="0">
            <a:spAutoFit/>
          </a:bodyPr>
          <a:lstStyle/>
          <a:p>
            <a:pPr algn="l">
              <a:lnSpc>
                <a:spcPct val="115000"/>
              </a:lnSpc>
              <a:spcAft>
                <a:spcPts val="600"/>
              </a:spcAft>
            </a:pPr>
            <a:r>
              <a:rPr sz="1200" b="1">
                <a:solidFill>
                  <a:srgbClr val="FFFFFF"/>
                </a:solidFill>
                <a:latin typeface="Arial"/>
              </a:rPr>
              <a:t>Số lượng</a:t>
            </a:r>
          </a:p>
        </p:txBody>
      </p:sp>
      <p:sp>
        <p:nvSpPr>
          <p:cNvPr id="12" name="TextBox 11"/>
          <p:cNvSpPr txBox="1"/>
          <p:nvPr/>
        </p:nvSpPr>
        <p:spPr>
          <a:xfrm>
            <a:off x="9818132" y="4471416"/>
            <a:ext cx="1767314" cy="384048"/>
          </a:xfrm>
          <a:prstGeom prst="rect">
            <a:avLst/>
          </a:prstGeom>
          <a:noFill/>
        </p:spPr>
        <p:txBody>
          <a:bodyPr wrap="square" lIns="0" rIns="0">
            <a:spAutoFit/>
          </a:bodyPr>
          <a:lstStyle/>
          <a:p>
            <a:pPr algn="l">
              <a:lnSpc>
                <a:spcPct val="115000"/>
              </a:lnSpc>
              <a:spcAft>
                <a:spcPts val="600"/>
              </a:spcAft>
            </a:pPr>
            <a:r>
              <a:rPr sz="1200" b="1">
                <a:solidFill>
                  <a:srgbClr val="FFFFFF"/>
                </a:solidFill>
                <a:latin typeface="Arial"/>
              </a:rPr>
              <a:t>Giấy phép</a:t>
            </a:r>
          </a:p>
        </p:txBody>
      </p:sp>
      <p:sp>
        <p:nvSpPr>
          <p:cNvPr id="13" name="Rectangle 12"/>
          <p:cNvSpPr/>
          <p:nvPr/>
        </p:nvSpPr>
        <p:spPr>
          <a:xfrm>
            <a:off x="685800" y="4791456"/>
            <a:ext cx="10789920"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4855464"/>
            <a:ext cx="2790496" cy="384048"/>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BDD100K — trời quang, ban ngày</a:t>
            </a:r>
          </a:p>
        </p:txBody>
      </p:sp>
      <p:sp>
        <p:nvSpPr>
          <p:cNvPr id="15" name="TextBox 14"/>
          <p:cNvSpPr txBox="1"/>
          <p:nvPr/>
        </p:nvSpPr>
        <p:spPr>
          <a:xfrm>
            <a:off x="3586024" y="4855464"/>
            <a:ext cx="4650827" cy="384048"/>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Ảnh nội dung (đầu vào) + nhãn bounding box</a:t>
            </a:r>
          </a:p>
        </p:txBody>
      </p:sp>
      <p:sp>
        <p:nvSpPr>
          <p:cNvPr id="16" name="TextBox 15"/>
          <p:cNvSpPr txBox="1"/>
          <p:nvPr/>
        </p:nvSpPr>
        <p:spPr>
          <a:xfrm>
            <a:off x="8236851" y="4855464"/>
            <a:ext cx="1581281" cy="384048"/>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2.400 ảnh</a:t>
            </a:r>
          </a:p>
        </p:txBody>
      </p:sp>
      <p:sp>
        <p:nvSpPr>
          <p:cNvPr id="17" name="TextBox 16"/>
          <p:cNvSpPr txBox="1"/>
          <p:nvPr/>
        </p:nvSpPr>
        <p:spPr>
          <a:xfrm>
            <a:off x="9818132" y="4855464"/>
            <a:ext cx="1767314" cy="384048"/>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BSD-3</a:t>
            </a:r>
          </a:p>
        </p:txBody>
      </p:sp>
      <p:sp>
        <p:nvSpPr>
          <p:cNvPr id="18" name="Rectangle 17"/>
          <p:cNvSpPr/>
          <p:nvPr/>
        </p:nvSpPr>
        <p:spPr>
          <a:xfrm>
            <a:off x="685800" y="5175504"/>
            <a:ext cx="107899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5239512"/>
            <a:ext cx="2790496" cy="384048"/>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BDD100K — mưa/tuyết, ban ngày</a:t>
            </a:r>
          </a:p>
        </p:txBody>
      </p:sp>
      <p:sp>
        <p:nvSpPr>
          <p:cNvPr id="20" name="TextBox 19"/>
          <p:cNvSpPr txBox="1"/>
          <p:nvPr/>
        </p:nvSpPr>
        <p:spPr>
          <a:xfrm>
            <a:off x="3586024" y="5239512"/>
            <a:ext cx="4650827" cy="384048"/>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300 ảnh tham chiếu  +  500 ảnh tập test THẬT</a:t>
            </a:r>
          </a:p>
        </p:txBody>
      </p:sp>
      <p:sp>
        <p:nvSpPr>
          <p:cNvPr id="21" name="TextBox 20"/>
          <p:cNvSpPr txBox="1"/>
          <p:nvPr/>
        </p:nvSpPr>
        <p:spPr>
          <a:xfrm>
            <a:off x="8236851" y="5239512"/>
            <a:ext cx="1581281" cy="384048"/>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800 ảnh</a:t>
            </a:r>
          </a:p>
        </p:txBody>
      </p:sp>
      <p:sp>
        <p:nvSpPr>
          <p:cNvPr id="22" name="TextBox 21"/>
          <p:cNvSpPr txBox="1"/>
          <p:nvPr/>
        </p:nvSpPr>
        <p:spPr>
          <a:xfrm>
            <a:off x="9818132" y="5239512"/>
            <a:ext cx="1767314" cy="384048"/>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BSD-3</a:t>
            </a:r>
          </a:p>
        </p:txBody>
      </p:sp>
      <p:sp>
        <p:nvSpPr>
          <p:cNvPr id="23" name="Rectangle 22"/>
          <p:cNvSpPr/>
          <p:nvPr/>
        </p:nvSpPr>
        <p:spPr>
          <a:xfrm>
            <a:off x="685800" y="5559552"/>
            <a:ext cx="10789920" cy="38404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5528" y="5623560"/>
            <a:ext cx="2790496" cy="384048"/>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DAWN (Mendeley)</a:t>
            </a:r>
          </a:p>
        </p:txBody>
      </p:sp>
      <p:sp>
        <p:nvSpPr>
          <p:cNvPr id="25" name="TextBox 24"/>
          <p:cNvSpPr txBox="1"/>
          <p:nvPr/>
        </p:nvSpPr>
        <p:spPr>
          <a:xfrm>
            <a:off x="3586024" y="5623560"/>
            <a:ext cx="4650827" cy="384048"/>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Ảnh tham chiếu: sương mù / mù khô / mưa / tuyết / bão cát</a:t>
            </a:r>
          </a:p>
        </p:txBody>
      </p:sp>
      <p:sp>
        <p:nvSpPr>
          <p:cNvPr id="26" name="TextBox 25"/>
          <p:cNvSpPr txBox="1"/>
          <p:nvPr/>
        </p:nvSpPr>
        <p:spPr>
          <a:xfrm>
            <a:off x="8236851" y="5623560"/>
            <a:ext cx="1581281" cy="384048"/>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1.027 ảnh</a:t>
            </a:r>
          </a:p>
        </p:txBody>
      </p:sp>
      <p:sp>
        <p:nvSpPr>
          <p:cNvPr id="27" name="TextBox 26"/>
          <p:cNvSpPr txBox="1"/>
          <p:nvPr/>
        </p:nvSpPr>
        <p:spPr>
          <a:xfrm>
            <a:off x="9818132" y="5623560"/>
            <a:ext cx="1767314" cy="384048"/>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Chỉ nghiên cứu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292"/>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424160" cy="822960"/>
          </a:xfrm>
          <a:prstGeom prst="rect">
            <a:avLst/>
          </a:prstGeom>
          <a:noFill/>
        </p:spPr>
        <p:txBody>
          <a:bodyPr wrap="square" lIns="0" rIns="0">
            <a:spAutoFit/>
          </a:bodyPr>
          <a:lstStyle/>
          <a:p>
            <a:pPr algn="l">
              <a:lnSpc>
                <a:spcPct val="115000"/>
              </a:lnSpc>
              <a:spcAft>
                <a:spcPts val="600"/>
              </a:spcAft>
            </a:pPr>
            <a:r>
              <a:rPr sz="2700" b="1">
                <a:solidFill>
                  <a:srgbClr val="FFFFFF"/>
                </a:solidFill>
                <a:latin typeface="Arial"/>
              </a:rPr>
              <a:t>Phương pháp — 3 khối nối tiếp</a:t>
            </a:r>
          </a:p>
          <a:p>
            <a:pPr algn="l">
              <a:lnSpc>
                <a:spcPct val="115000"/>
              </a:lnSpc>
              <a:spcAft>
                <a:spcPts val="600"/>
              </a:spcAft>
            </a:pPr>
            <a:r>
              <a:rPr sz="1300" b="0">
                <a:solidFill>
                  <a:srgbClr val="B6C2D9"/>
                </a:solidFill>
                <a:latin typeface="Arial"/>
              </a:rPr>
              <a:t>Mỗi khối bù đúng một điểm yếu của khối trước</a:t>
            </a:r>
          </a:p>
        </p:txBody>
      </p:sp>
      <p:sp>
        <p:nvSpPr>
          <p:cNvPr id="5" name="TextBox 4"/>
          <p:cNvSpPr txBox="1"/>
          <p:nvPr/>
        </p:nvSpPr>
        <p:spPr>
          <a:xfrm>
            <a:off x="11155680" y="6355080"/>
            <a:ext cx="822960" cy="365760"/>
          </a:xfrm>
          <a:prstGeom prst="rect">
            <a:avLst/>
          </a:prstGeom>
          <a:noFill/>
        </p:spPr>
        <p:txBody>
          <a:bodyPr wrap="square" lIns="0" rIns="0">
            <a:spAutoFit/>
          </a:bodyPr>
          <a:lstStyle/>
          <a:p>
            <a:pPr algn="r">
              <a:lnSpc>
                <a:spcPct val="115000"/>
              </a:lnSpc>
              <a:spcAft>
                <a:spcPts val="600"/>
              </a:spcAft>
            </a:pPr>
            <a:r>
              <a:rPr sz="1100" b="0">
                <a:solidFill>
                  <a:srgbClr val="5A6375"/>
                </a:solidFill>
                <a:latin typeface="Arial"/>
              </a:rPr>
              <a:t>3</a:t>
            </a:r>
          </a:p>
        </p:txBody>
      </p:sp>
      <p:sp>
        <p:nvSpPr>
          <p:cNvPr id="6" name="Rectangle 5"/>
          <p:cNvSpPr/>
          <p:nvPr/>
        </p:nvSpPr>
        <p:spPr>
          <a:xfrm>
            <a:off x="548640" y="1371600"/>
            <a:ext cx="3337560" cy="301752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71600"/>
            <a:ext cx="3337560" cy="82296"/>
          </a:xfrm>
          <a:prstGeom prst="rect">
            <a:avLst/>
          </a:prstGeom>
          <a:solidFill>
            <a:srgbClr val="2E6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2926080" cy="2743200"/>
          </a:xfrm>
          <a:prstGeom prst="rect">
            <a:avLst/>
          </a:prstGeom>
          <a:noFill/>
        </p:spPr>
        <p:txBody>
          <a:bodyPr wrap="square" lIns="0" rIns="0">
            <a:spAutoFit/>
          </a:bodyPr>
          <a:lstStyle/>
          <a:p>
            <a:pPr algn="l">
              <a:lnSpc>
                <a:spcPct val="115000"/>
              </a:lnSpc>
              <a:spcAft>
                <a:spcPts val="600"/>
              </a:spcAft>
            </a:pPr>
            <a:r>
              <a:rPr sz="1700" b="1">
                <a:solidFill>
                  <a:srgbClr val="101B33"/>
                </a:solidFill>
                <a:latin typeface="Arial"/>
              </a:rPr>
              <a:t>① AdaIN  (học sâu)</a:t>
            </a:r>
          </a:p>
          <a:p>
            <a:pPr algn="l">
              <a:lnSpc>
                <a:spcPct val="115000"/>
              </a:lnSpc>
              <a:spcAft>
                <a:spcPts val="600"/>
              </a:spcAft>
            </a:pPr>
            <a:r>
              <a:rPr sz="1300" b="0">
                <a:solidFill>
                  <a:srgbClr val="5A6375"/>
                </a:solidFill>
                <a:latin typeface="Arial"/>
              </a:rPr>
              <a:t>Chuẩn hoá đặc trưng VGG của ảnh gốc rồi nhuộm lại bằng mean/std của ảnh thời tiết.
→ Đổi tông màu, độ sáng, độ mù toàn cục.</a:t>
            </a:r>
          </a:p>
        </p:txBody>
      </p:sp>
      <p:sp>
        <p:nvSpPr>
          <p:cNvPr id="9" name="Rectangle 8"/>
          <p:cNvSpPr/>
          <p:nvPr/>
        </p:nvSpPr>
        <p:spPr>
          <a:xfrm>
            <a:off x="4434840" y="1371600"/>
            <a:ext cx="3337560" cy="301752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1371600"/>
            <a:ext cx="3337560" cy="82296"/>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600200"/>
            <a:ext cx="2926080" cy="2743200"/>
          </a:xfrm>
          <a:prstGeom prst="rect">
            <a:avLst/>
          </a:prstGeom>
          <a:noFill/>
        </p:spPr>
        <p:txBody>
          <a:bodyPr wrap="square" lIns="0" rIns="0">
            <a:spAutoFit/>
          </a:bodyPr>
          <a:lstStyle/>
          <a:p>
            <a:pPr algn="l">
              <a:lnSpc>
                <a:spcPct val="115000"/>
              </a:lnSpc>
              <a:spcAft>
                <a:spcPts val="600"/>
              </a:spcAft>
            </a:pPr>
            <a:r>
              <a:rPr sz="1700" b="1">
                <a:solidFill>
                  <a:srgbClr val="101B33"/>
                </a:solidFill>
                <a:latin typeface="Arial"/>
              </a:rPr>
              <a:t>② Guided Filter</a:t>
            </a:r>
          </a:p>
          <a:p>
            <a:pPr algn="l">
              <a:lnSpc>
                <a:spcPct val="115000"/>
              </a:lnSpc>
              <a:spcAft>
                <a:spcPts val="600"/>
              </a:spcAft>
            </a:pPr>
            <a:r>
              <a:rPr sz="1300" b="0">
                <a:solidFill>
                  <a:srgbClr val="5A6375"/>
                </a:solidFill>
                <a:latin typeface="Arial"/>
              </a:rPr>
              <a:t>Dùng ảnh gốc làm ảnh dẫn hướng, lọc tuyến tính cục bộ q = a·I + b.
Bán kính lớn (32) → a, b mượt → đầu ra = ẢNH GỐC nhân trường tương phản + lệch màu.
→ Giữ 100% chi tiết ảnh chụp, chỉ đổi tông thời tiết.</a:t>
            </a:r>
          </a:p>
        </p:txBody>
      </p:sp>
      <p:sp>
        <p:nvSpPr>
          <p:cNvPr id="12" name="Rectangle 11"/>
          <p:cNvSpPr/>
          <p:nvPr/>
        </p:nvSpPr>
        <p:spPr>
          <a:xfrm>
            <a:off x="8321040" y="1371600"/>
            <a:ext cx="3337560" cy="301752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0" y="1371600"/>
            <a:ext cx="3337560" cy="82296"/>
          </a:xfrm>
          <a:prstGeom prst="rect">
            <a:avLst/>
          </a:prstGeom>
          <a:solidFill>
            <a:srgbClr val="E4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1600200"/>
            <a:ext cx="2926080" cy="2743200"/>
          </a:xfrm>
          <a:prstGeom prst="rect">
            <a:avLst/>
          </a:prstGeom>
          <a:noFill/>
        </p:spPr>
        <p:txBody>
          <a:bodyPr wrap="square" lIns="0" rIns="0">
            <a:spAutoFit/>
          </a:bodyPr>
          <a:lstStyle/>
          <a:p>
            <a:pPr algn="l">
              <a:lnSpc>
                <a:spcPct val="115000"/>
              </a:lnSpc>
              <a:spcAft>
                <a:spcPts val="600"/>
              </a:spcAft>
            </a:pPr>
            <a:r>
              <a:rPr sz="1700" b="1">
                <a:solidFill>
                  <a:srgbClr val="101B33"/>
                </a:solidFill>
                <a:latin typeface="Arial"/>
              </a:rPr>
              <a:t>③ Phủ hạt (vật lý)</a:t>
            </a:r>
          </a:p>
          <a:p>
            <a:pPr algn="l">
              <a:lnSpc>
                <a:spcPct val="115000"/>
              </a:lnSpc>
              <a:spcAft>
                <a:spcPts val="600"/>
              </a:spcAft>
            </a:pPr>
            <a:r>
              <a:rPr sz="1300" b="0">
                <a:solidFill>
                  <a:srgbClr val="5A6375"/>
                </a:solidFill>
                <a:latin typeface="Arial"/>
              </a:rPr>
              <a:t>Sinh vệt mưa (nhiễu + motion blur) và bông tuyết (3 lớp độ sâu), phủ theo chế độ screen.
→ Thêm chi tiết cục bộ mà AdaIN không tạo ra được.</a:t>
            </a:r>
          </a:p>
        </p:txBody>
      </p:sp>
      <p:sp>
        <p:nvSpPr>
          <p:cNvPr id="15" name="TextBox 14"/>
          <p:cNvSpPr txBox="1"/>
          <p:nvPr/>
        </p:nvSpPr>
        <p:spPr>
          <a:xfrm>
            <a:off x="548640" y="4617720"/>
            <a:ext cx="11064240" cy="1463040"/>
          </a:xfrm>
          <a:prstGeom prst="rect">
            <a:avLst/>
          </a:prstGeom>
          <a:noFill/>
        </p:spPr>
        <p:txBody>
          <a:bodyPr wrap="square" lIns="0" rIns="0">
            <a:spAutoFit/>
          </a:bodyPr>
          <a:lstStyle/>
          <a:p>
            <a:pPr algn="l">
              <a:lnSpc>
                <a:spcPct val="115000"/>
              </a:lnSpc>
              <a:spcAft>
                <a:spcPts val="600"/>
              </a:spcAft>
            </a:pPr>
            <a:r>
              <a:rPr sz="1900" b="1">
                <a:solidFill>
                  <a:srgbClr val="101B33"/>
                </a:solidFill>
                <a:latin typeface="Arial"/>
              </a:rPr>
              <a:t>Vì sao nhãn bounding box vẫn dùng lại được?</a:t>
            </a:r>
          </a:p>
          <a:p>
            <a:pPr algn="l">
              <a:lnSpc>
                <a:spcPct val="115000"/>
              </a:lnSpc>
              <a:spcAft>
                <a:spcPts val="600"/>
              </a:spcAft>
            </a:pPr>
            <a:r>
              <a:rPr sz="1500" b="0">
                <a:solidFill>
                  <a:srgbClr val="5A6375"/>
                </a:solidFill>
                <a:latin typeface="Arial"/>
              </a:rPr>
              <a:t>Cả 3 khối chỉ thay đổi GIÁ TRỊ MÀU tại từng pixel — không dịch chuyển, không co giãn, không xoay vật thể. Vị trí chiếc xe trong ảnh đầu ra trùng khít vị trí trong ảnh gốc, nên toàn bộ nhãn cũ được sao chép nguyên vẹn. Chi phí gán nhãn cho dữ liệu mới = 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292"/>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424160" cy="822960"/>
          </a:xfrm>
          <a:prstGeom prst="rect">
            <a:avLst/>
          </a:prstGeom>
          <a:noFill/>
        </p:spPr>
        <p:txBody>
          <a:bodyPr wrap="square" lIns="0" rIns="0">
            <a:spAutoFit/>
          </a:bodyPr>
          <a:lstStyle/>
          <a:p>
            <a:pPr algn="l">
              <a:lnSpc>
                <a:spcPct val="115000"/>
              </a:lnSpc>
              <a:spcAft>
                <a:spcPts val="600"/>
              </a:spcAft>
            </a:pPr>
            <a:r>
              <a:rPr sz="2700" b="1">
                <a:solidFill>
                  <a:srgbClr val="FFFFFF"/>
                </a:solidFill>
                <a:latin typeface="Arial"/>
              </a:rPr>
              <a:t>① AdaIN — trái tim của phương pháp</a:t>
            </a:r>
          </a:p>
          <a:p>
            <a:pPr algn="l">
              <a:lnSpc>
                <a:spcPct val="115000"/>
              </a:lnSpc>
              <a:spcAft>
                <a:spcPts val="600"/>
              </a:spcAft>
            </a:pPr>
            <a:r>
              <a:rPr sz="1300" b="0">
                <a:solidFill>
                  <a:srgbClr val="B6C2D9"/>
                </a:solidFill>
                <a:latin typeface="Arial"/>
              </a:rPr>
              <a:t>Huang &amp; Belongie, ICCV 2017</a:t>
            </a:r>
          </a:p>
        </p:txBody>
      </p:sp>
      <p:sp>
        <p:nvSpPr>
          <p:cNvPr id="5" name="TextBox 4"/>
          <p:cNvSpPr txBox="1"/>
          <p:nvPr/>
        </p:nvSpPr>
        <p:spPr>
          <a:xfrm>
            <a:off x="11155680" y="6355080"/>
            <a:ext cx="822960" cy="365760"/>
          </a:xfrm>
          <a:prstGeom prst="rect">
            <a:avLst/>
          </a:prstGeom>
          <a:noFill/>
        </p:spPr>
        <p:txBody>
          <a:bodyPr wrap="square" lIns="0" rIns="0">
            <a:spAutoFit/>
          </a:bodyPr>
          <a:lstStyle/>
          <a:p>
            <a:pPr algn="r">
              <a:lnSpc>
                <a:spcPct val="115000"/>
              </a:lnSpc>
              <a:spcAft>
                <a:spcPts val="600"/>
              </a:spcAft>
            </a:pPr>
            <a:r>
              <a:rPr sz="1100" b="0">
                <a:solidFill>
                  <a:srgbClr val="5A6375"/>
                </a:solidFill>
                <a:latin typeface="Arial"/>
              </a:rPr>
              <a:t>4</a:t>
            </a:r>
          </a:p>
        </p:txBody>
      </p:sp>
      <p:sp>
        <p:nvSpPr>
          <p:cNvPr id="6" name="Rectangle 5"/>
          <p:cNvSpPr/>
          <p:nvPr/>
        </p:nvSpPr>
        <p:spPr>
          <a:xfrm>
            <a:off x="640080" y="1371600"/>
            <a:ext cx="10881360" cy="123444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27632"/>
            <a:ext cx="10881360" cy="914400"/>
          </a:xfrm>
          <a:prstGeom prst="rect">
            <a:avLst/>
          </a:prstGeom>
          <a:noFill/>
        </p:spPr>
        <p:txBody>
          <a:bodyPr wrap="square" lIns="0" rIns="0">
            <a:spAutoFit/>
          </a:bodyPr>
          <a:lstStyle/>
          <a:p>
            <a:pPr algn="ctr">
              <a:lnSpc>
                <a:spcPct val="115000"/>
              </a:lnSpc>
              <a:spcAft>
                <a:spcPts val="600"/>
              </a:spcAft>
            </a:pPr>
            <a:r>
              <a:rPr sz="3000" b="1">
                <a:solidFill>
                  <a:srgbClr val="18A099"/>
                </a:solidFill>
                <a:latin typeface="Arial"/>
              </a:rPr>
              <a:t>AdaIN(c, s)  =  σ(s) · ( c − μ(c) ) / σ(c)  +  μ(s)</a:t>
            </a:r>
          </a:p>
        </p:txBody>
      </p:sp>
      <p:sp>
        <p:nvSpPr>
          <p:cNvPr id="8" name="Rectangle 7"/>
          <p:cNvSpPr/>
          <p:nvPr/>
        </p:nvSpPr>
        <p:spPr>
          <a:xfrm>
            <a:off x="640080" y="3026664"/>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26080"/>
            <a:ext cx="10607040" cy="548640"/>
          </a:xfrm>
          <a:prstGeom prst="rect">
            <a:avLst/>
          </a:prstGeom>
          <a:noFill/>
        </p:spPr>
        <p:txBody>
          <a:bodyPr wrap="square" lIns="0" rIns="0">
            <a:spAutoFit/>
          </a:bodyPr>
          <a:lstStyle/>
          <a:p>
            <a:pPr algn="l">
              <a:lnSpc>
                <a:spcPct val="115000"/>
              </a:lnSpc>
              <a:spcAft>
                <a:spcPts val="600"/>
              </a:spcAft>
            </a:pPr>
            <a:r>
              <a:rPr sz="1600" b="1">
                <a:solidFill>
                  <a:srgbClr val="101B33"/>
                </a:solidFill>
                <a:latin typeface="Arial"/>
              </a:rPr>
              <a:t>c = đặc trưng VGG của ảnh giao thông,  s = đặc trưng VGG của ảnh thời tiết.</a:t>
            </a:r>
          </a:p>
        </p:txBody>
      </p:sp>
      <p:sp>
        <p:nvSpPr>
          <p:cNvPr id="10" name="Rectangle 9"/>
          <p:cNvSpPr/>
          <p:nvPr/>
        </p:nvSpPr>
        <p:spPr>
          <a:xfrm>
            <a:off x="640080" y="3575304"/>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474720"/>
            <a:ext cx="10607040" cy="548640"/>
          </a:xfrm>
          <a:prstGeom prst="rect">
            <a:avLst/>
          </a:prstGeom>
          <a:noFill/>
        </p:spPr>
        <p:txBody>
          <a:bodyPr wrap="square" lIns="0" rIns="0">
            <a:spAutoFit/>
          </a:bodyPr>
          <a:lstStyle/>
          <a:p>
            <a:pPr algn="l">
              <a:lnSpc>
                <a:spcPct val="115000"/>
              </a:lnSpc>
              <a:spcAft>
                <a:spcPts val="600"/>
              </a:spcAft>
            </a:pPr>
            <a:r>
              <a:rPr sz="1600" b="0">
                <a:solidFill>
                  <a:srgbClr val="101B33"/>
                </a:solidFill>
                <a:latin typeface="Arial"/>
              </a:rPr>
              <a:t>Bước 1 — ( c − μ(c) ) / σ(c): xoá phong cách gốc (trời quang), giữ lại cấu trúc không gian.</a:t>
            </a:r>
          </a:p>
        </p:txBody>
      </p:sp>
      <p:sp>
        <p:nvSpPr>
          <p:cNvPr id="12" name="Rectangle 11"/>
          <p:cNvSpPr/>
          <p:nvPr/>
        </p:nvSpPr>
        <p:spPr>
          <a:xfrm>
            <a:off x="640080" y="4123944"/>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23360"/>
            <a:ext cx="10607040" cy="548640"/>
          </a:xfrm>
          <a:prstGeom prst="rect">
            <a:avLst/>
          </a:prstGeom>
          <a:noFill/>
        </p:spPr>
        <p:txBody>
          <a:bodyPr wrap="square" lIns="0" rIns="0">
            <a:spAutoFit/>
          </a:bodyPr>
          <a:lstStyle/>
          <a:p>
            <a:pPr algn="l">
              <a:lnSpc>
                <a:spcPct val="115000"/>
              </a:lnSpc>
              <a:spcAft>
                <a:spcPts val="600"/>
              </a:spcAft>
            </a:pPr>
            <a:r>
              <a:rPr sz="1600" b="0">
                <a:solidFill>
                  <a:srgbClr val="101B33"/>
                </a:solidFill>
                <a:latin typeface="Arial"/>
              </a:rPr>
              <a:t>Bước 2 — nhân σ(s), cộng μ(s): 'nhuộm' bằng thống kê của ảnh thời tiết.</a:t>
            </a:r>
          </a:p>
        </p:txBody>
      </p:sp>
      <p:sp>
        <p:nvSpPr>
          <p:cNvPr id="14" name="Rectangle 13"/>
          <p:cNvSpPr/>
          <p:nvPr/>
        </p:nvSpPr>
        <p:spPr>
          <a:xfrm>
            <a:off x="640080" y="4672584"/>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572000"/>
            <a:ext cx="10607040" cy="548640"/>
          </a:xfrm>
          <a:prstGeom prst="rect">
            <a:avLst/>
          </a:prstGeom>
          <a:noFill/>
        </p:spPr>
        <p:txBody>
          <a:bodyPr wrap="square" lIns="0" rIns="0">
            <a:spAutoFit/>
          </a:bodyPr>
          <a:lstStyle/>
          <a:p>
            <a:pPr algn="l">
              <a:lnSpc>
                <a:spcPct val="115000"/>
              </a:lnSpc>
              <a:spcAft>
                <a:spcPts val="600"/>
              </a:spcAft>
            </a:pPr>
            <a:r>
              <a:rPr sz="1600" b="1">
                <a:solidFill>
                  <a:srgbClr val="101B33"/>
                </a:solidFill>
                <a:latin typeface="Arial"/>
              </a:rPr>
              <a:t>Chỉ đổi thống kê THEO KÊNH ⇒ bản đồ đặc trưng không bị dịch chuyển ⇒ giữ bố cục.</a:t>
            </a:r>
          </a:p>
        </p:txBody>
      </p:sp>
      <p:sp>
        <p:nvSpPr>
          <p:cNvPr id="16" name="Rectangle 15"/>
          <p:cNvSpPr/>
          <p:nvPr/>
        </p:nvSpPr>
        <p:spPr>
          <a:xfrm>
            <a:off x="640080" y="5221224"/>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120640"/>
            <a:ext cx="10607040" cy="548640"/>
          </a:xfrm>
          <a:prstGeom prst="rect">
            <a:avLst/>
          </a:prstGeom>
          <a:noFill/>
        </p:spPr>
        <p:txBody>
          <a:bodyPr wrap="square" lIns="0" rIns="0">
            <a:spAutoFit/>
          </a:bodyPr>
          <a:lstStyle/>
          <a:p>
            <a:pPr algn="l">
              <a:lnSpc>
                <a:spcPct val="115000"/>
              </a:lnSpc>
              <a:spcAft>
                <a:spcPts val="600"/>
              </a:spcAft>
            </a:pPr>
            <a:r>
              <a:rPr sz="1600" b="0">
                <a:solidFill>
                  <a:srgbClr val="101B33"/>
                </a:solidFill>
                <a:latin typeface="Arial"/>
              </a:rPr>
              <a:t>Không có tham số học nào trong AdaIN — chỉ Decoder (3,51 triệu tham số) được huấn luyện.</a:t>
            </a:r>
          </a:p>
        </p:txBody>
      </p:sp>
      <p:sp>
        <p:nvSpPr>
          <p:cNvPr id="18" name="Rectangle 17"/>
          <p:cNvSpPr/>
          <p:nvPr/>
        </p:nvSpPr>
        <p:spPr>
          <a:xfrm>
            <a:off x="640080" y="5769864"/>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669280"/>
            <a:ext cx="10607040" cy="548640"/>
          </a:xfrm>
          <a:prstGeom prst="rect">
            <a:avLst/>
          </a:prstGeom>
          <a:noFill/>
        </p:spPr>
        <p:txBody>
          <a:bodyPr wrap="square" lIns="0" rIns="0">
            <a:spAutoFit/>
          </a:bodyPr>
          <a:lstStyle/>
          <a:p>
            <a:pPr algn="l">
              <a:lnSpc>
                <a:spcPct val="115000"/>
              </a:lnSpc>
              <a:spcAft>
                <a:spcPts val="600"/>
              </a:spcAft>
            </a:pPr>
            <a:r>
              <a:rPr sz="1600" b="1">
                <a:solidFill>
                  <a:srgbClr val="101B33"/>
                </a:solidFill>
                <a:latin typeface="Arial"/>
              </a:rPr>
              <a:t>Hệ quả: thời tiết mới chỉ cần đưa ảnh tham chiếu vào, KHÔNG huấn luyện lại.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292"/>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424160" cy="822960"/>
          </a:xfrm>
          <a:prstGeom prst="rect">
            <a:avLst/>
          </a:prstGeom>
          <a:noFill/>
        </p:spPr>
        <p:txBody>
          <a:bodyPr wrap="square" lIns="0" rIns="0">
            <a:spAutoFit/>
          </a:bodyPr>
          <a:lstStyle/>
          <a:p>
            <a:pPr algn="l">
              <a:lnSpc>
                <a:spcPct val="115000"/>
              </a:lnSpc>
              <a:spcAft>
                <a:spcPts val="600"/>
              </a:spcAft>
            </a:pPr>
            <a:r>
              <a:rPr sz="2700" b="1">
                <a:solidFill>
                  <a:srgbClr val="FFFFFF"/>
                </a:solidFill>
                <a:latin typeface="Arial"/>
              </a:rPr>
              <a:t>Huấn luyện</a:t>
            </a:r>
          </a:p>
          <a:p>
            <a:pPr algn="l">
              <a:lnSpc>
                <a:spcPct val="115000"/>
              </a:lnSpc>
              <a:spcAft>
                <a:spcPts val="600"/>
              </a:spcAft>
            </a:pPr>
            <a:r>
              <a:rPr sz="1300" b="0">
                <a:solidFill>
                  <a:srgbClr val="B6C2D9"/>
                </a:solidFill>
                <a:latin typeface="Arial"/>
              </a:rPr>
              <a:t>Chỉ Decoder được học — VGG-19 đóng băng hoàn toàn</a:t>
            </a:r>
          </a:p>
        </p:txBody>
      </p:sp>
      <p:sp>
        <p:nvSpPr>
          <p:cNvPr id="5" name="TextBox 4"/>
          <p:cNvSpPr txBox="1"/>
          <p:nvPr/>
        </p:nvSpPr>
        <p:spPr>
          <a:xfrm>
            <a:off x="11155680" y="6355080"/>
            <a:ext cx="822960" cy="365760"/>
          </a:xfrm>
          <a:prstGeom prst="rect">
            <a:avLst/>
          </a:prstGeom>
          <a:noFill/>
        </p:spPr>
        <p:txBody>
          <a:bodyPr wrap="square" lIns="0" rIns="0">
            <a:spAutoFit/>
          </a:bodyPr>
          <a:lstStyle/>
          <a:p>
            <a:pPr algn="r">
              <a:lnSpc>
                <a:spcPct val="115000"/>
              </a:lnSpc>
              <a:spcAft>
                <a:spcPts val="600"/>
              </a:spcAft>
            </a:pPr>
            <a:r>
              <a:rPr sz="1100" b="0">
                <a:solidFill>
                  <a:srgbClr val="5A6375"/>
                </a:solidFill>
                <a:latin typeface="Arial"/>
              </a:rPr>
              <a:t>5</a:t>
            </a:r>
          </a:p>
        </p:txBody>
      </p:sp>
      <p:sp>
        <p:nvSpPr>
          <p:cNvPr id="6" name="Rectangle 5"/>
          <p:cNvSpPr/>
          <p:nvPr/>
        </p:nvSpPr>
        <p:spPr>
          <a:xfrm>
            <a:off x="640080" y="1280160"/>
            <a:ext cx="5120640" cy="329184"/>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344168"/>
            <a:ext cx="1920240" cy="329184"/>
          </a:xfrm>
          <a:prstGeom prst="rect">
            <a:avLst/>
          </a:prstGeom>
          <a:noFill/>
        </p:spPr>
        <p:txBody>
          <a:bodyPr wrap="square" lIns="0" rIns="0">
            <a:spAutoFit/>
          </a:bodyPr>
          <a:lstStyle/>
          <a:p>
            <a:pPr algn="l">
              <a:lnSpc>
                <a:spcPct val="115000"/>
              </a:lnSpc>
              <a:spcAft>
                <a:spcPts val="600"/>
              </a:spcAft>
            </a:pPr>
            <a:r>
              <a:rPr sz="1300" b="1">
                <a:solidFill>
                  <a:srgbClr val="FFFFFF"/>
                </a:solidFill>
                <a:latin typeface="Arial"/>
              </a:rPr>
              <a:t>Thành phần</a:t>
            </a:r>
          </a:p>
        </p:txBody>
      </p:sp>
      <p:sp>
        <p:nvSpPr>
          <p:cNvPr id="8" name="TextBox 7"/>
          <p:cNvSpPr txBox="1"/>
          <p:nvPr/>
        </p:nvSpPr>
        <p:spPr>
          <a:xfrm>
            <a:off x="2670048" y="1344168"/>
            <a:ext cx="3200400" cy="329184"/>
          </a:xfrm>
          <a:prstGeom prst="rect">
            <a:avLst/>
          </a:prstGeom>
          <a:noFill/>
        </p:spPr>
        <p:txBody>
          <a:bodyPr wrap="square" lIns="0" rIns="0">
            <a:spAutoFit/>
          </a:bodyPr>
          <a:lstStyle/>
          <a:p>
            <a:pPr algn="l">
              <a:lnSpc>
                <a:spcPct val="115000"/>
              </a:lnSpc>
              <a:spcAft>
                <a:spcPts val="600"/>
              </a:spcAft>
            </a:pPr>
            <a:r>
              <a:rPr sz="1300" b="1">
                <a:solidFill>
                  <a:srgbClr val="FFFFFF"/>
                </a:solidFill>
                <a:latin typeface="Arial"/>
              </a:rPr>
              <a:t>Giá trị</a:t>
            </a:r>
          </a:p>
        </p:txBody>
      </p:sp>
      <p:sp>
        <p:nvSpPr>
          <p:cNvPr id="9" name="Rectangle 8"/>
          <p:cNvSpPr/>
          <p:nvPr/>
        </p:nvSpPr>
        <p:spPr>
          <a:xfrm>
            <a:off x="640080" y="1609344"/>
            <a:ext cx="5120640" cy="329184"/>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673352"/>
            <a:ext cx="192024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Encoder</a:t>
            </a:r>
          </a:p>
        </p:txBody>
      </p:sp>
      <p:sp>
        <p:nvSpPr>
          <p:cNvPr id="11" name="TextBox 10"/>
          <p:cNvSpPr txBox="1"/>
          <p:nvPr/>
        </p:nvSpPr>
        <p:spPr>
          <a:xfrm>
            <a:off x="2670048" y="1673352"/>
            <a:ext cx="320040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VGG-19 (ImageNet), đóng băng</a:t>
            </a:r>
          </a:p>
        </p:txBody>
      </p:sp>
      <p:sp>
        <p:nvSpPr>
          <p:cNvPr id="12" name="Rectangle 11"/>
          <p:cNvSpPr/>
          <p:nvPr/>
        </p:nvSpPr>
        <p:spPr>
          <a:xfrm>
            <a:off x="640080" y="1938528"/>
            <a:ext cx="51206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002536"/>
            <a:ext cx="192024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Decoder</a:t>
            </a:r>
          </a:p>
        </p:txBody>
      </p:sp>
      <p:sp>
        <p:nvSpPr>
          <p:cNvPr id="14" name="TextBox 13"/>
          <p:cNvSpPr txBox="1"/>
          <p:nvPr/>
        </p:nvSpPr>
        <p:spPr>
          <a:xfrm>
            <a:off x="2670048" y="2002536"/>
            <a:ext cx="320040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3,51 M tham số</a:t>
            </a:r>
          </a:p>
        </p:txBody>
      </p:sp>
      <p:sp>
        <p:nvSpPr>
          <p:cNvPr id="15" name="Rectangle 14"/>
          <p:cNvSpPr/>
          <p:nvPr/>
        </p:nvSpPr>
        <p:spPr>
          <a:xfrm>
            <a:off x="640080" y="2267712"/>
            <a:ext cx="5120640" cy="329184"/>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2331720"/>
            <a:ext cx="192024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Ảnh huấn luyện</a:t>
            </a:r>
          </a:p>
        </p:txBody>
      </p:sp>
      <p:sp>
        <p:nvSpPr>
          <p:cNvPr id="17" name="TextBox 16"/>
          <p:cNvSpPr txBox="1"/>
          <p:nvPr/>
        </p:nvSpPr>
        <p:spPr>
          <a:xfrm>
            <a:off x="2670048" y="2331720"/>
            <a:ext cx="320040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2.160 nội dung × 1.327 style</a:t>
            </a:r>
          </a:p>
        </p:txBody>
      </p:sp>
      <p:sp>
        <p:nvSpPr>
          <p:cNvPr id="18" name="Rectangle 17"/>
          <p:cNvSpPr/>
          <p:nvPr/>
        </p:nvSpPr>
        <p:spPr>
          <a:xfrm>
            <a:off x="640080" y="2596896"/>
            <a:ext cx="51206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660904"/>
            <a:ext cx="192024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Kích thước</a:t>
            </a:r>
          </a:p>
        </p:txBody>
      </p:sp>
      <p:sp>
        <p:nvSpPr>
          <p:cNvPr id="20" name="TextBox 19"/>
          <p:cNvSpPr txBox="1"/>
          <p:nvPr/>
        </p:nvSpPr>
        <p:spPr>
          <a:xfrm>
            <a:off x="2670048" y="2660904"/>
            <a:ext cx="320040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resize 320 → crop 256</a:t>
            </a:r>
          </a:p>
        </p:txBody>
      </p:sp>
      <p:sp>
        <p:nvSpPr>
          <p:cNvPr id="21" name="Rectangle 20"/>
          <p:cNvSpPr/>
          <p:nvPr/>
        </p:nvSpPr>
        <p:spPr>
          <a:xfrm>
            <a:off x="640080" y="2926080"/>
            <a:ext cx="5120640" cy="329184"/>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2990088"/>
            <a:ext cx="192024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Batch / bước</a:t>
            </a:r>
          </a:p>
        </p:txBody>
      </p:sp>
      <p:sp>
        <p:nvSpPr>
          <p:cNvPr id="23" name="TextBox 22"/>
          <p:cNvSpPr txBox="1"/>
          <p:nvPr/>
        </p:nvSpPr>
        <p:spPr>
          <a:xfrm>
            <a:off x="2670048" y="2990088"/>
            <a:ext cx="320040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8 / 12.000</a:t>
            </a:r>
          </a:p>
        </p:txBody>
      </p:sp>
      <p:sp>
        <p:nvSpPr>
          <p:cNvPr id="24" name="Rectangle 23"/>
          <p:cNvSpPr/>
          <p:nvPr/>
        </p:nvSpPr>
        <p:spPr>
          <a:xfrm>
            <a:off x="640080" y="3255264"/>
            <a:ext cx="51206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319272"/>
            <a:ext cx="192024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Optimizer</a:t>
            </a:r>
          </a:p>
        </p:txBody>
      </p:sp>
      <p:sp>
        <p:nvSpPr>
          <p:cNvPr id="26" name="TextBox 25"/>
          <p:cNvSpPr txBox="1"/>
          <p:nvPr/>
        </p:nvSpPr>
        <p:spPr>
          <a:xfrm>
            <a:off x="2670048" y="3319272"/>
            <a:ext cx="320040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Adam, lr 1e-4, decay 5e-5</a:t>
            </a:r>
          </a:p>
        </p:txBody>
      </p:sp>
      <p:sp>
        <p:nvSpPr>
          <p:cNvPr id="27" name="Rectangle 26"/>
          <p:cNvSpPr/>
          <p:nvPr/>
        </p:nvSpPr>
        <p:spPr>
          <a:xfrm>
            <a:off x="640080" y="3584448"/>
            <a:ext cx="5120640" cy="329184"/>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3648456"/>
            <a:ext cx="192024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Mixed precision</a:t>
            </a:r>
          </a:p>
        </p:txBody>
      </p:sp>
      <p:sp>
        <p:nvSpPr>
          <p:cNvPr id="29" name="TextBox 28"/>
          <p:cNvSpPr txBox="1"/>
          <p:nvPr/>
        </p:nvSpPr>
        <p:spPr>
          <a:xfrm>
            <a:off x="2670048" y="3648456"/>
            <a:ext cx="320040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bfloat16</a:t>
            </a:r>
          </a:p>
        </p:txBody>
      </p:sp>
      <p:sp>
        <p:nvSpPr>
          <p:cNvPr id="30" name="Rectangle 29"/>
          <p:cNvSpPr/>
          <p:nvPr/>
        </p:nvSpPr>
        <p:spPr>
          <a:xfrm>
            <a:off x="640080" y="3913632"/>
            <a:ext cx="51206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3977640"/>
            <a:ext cx="192024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Thời gian</a:t>
            </a:r>
          </a:p>
        </p:txBody>
      </p:sp>
      <p:sp>
        <p:nvSpPr>
          <p:cNvPr id="32" name="TextBox 31"/>
          <p:cNvSpPr txBox="1"/>
          <p:nvPr/>
        </p:nvSpPr>
        <p:spPr>
          <a:xfrm>
            <a:off x="2670048" y="3977640"/>
            <a:ext cx="3200400" cy="329184"/>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37 phút (RTX 5060 Ti)</a:t>
            </a:r>
          </a:p>
        </p:txBody>
      </p:sp>
      <p:sp>
        <p:nvSpPr>
          <p:cNvPr id="33" name="TextBox 32"/>
          <p:cNvSpPr txBox="1"/>
          <p:nvPr/>
        </p:nvSpPr>
        <p:spPr>
          <a:xfrm>
            <a:off x="6126480" y="1280160"/>
            <a:ext cx="5394960" cy="2194560"/>
          </a:xfrm>
          <a:prstGeom prst="rect">
            <a:avLst/>
          </a:prstGeom>
          <a:noFill/>
        </p:spPr>
        <p:txBody>
          <a:bodyPr wrap="square" lIns="0" rIns="0">
            <a:spAutoFit/>
          </a:bodyPr>
          <a:lstStyle/>
          <a:p>
            <a:pPr algn="l">
              <a:lnSpc>
                <a:spcPct val="115000"/>
              </a:lnSpc>
              <a:spcAft>
                <a:spcPts val="600"/>
              </a:spcAft>
            </a:pPr>
            <a:r>
              <a:rPr sz="1900" b="1">
                <a:solidFill>
                  <a:srgbClr val="101B33"/>
                </a:solidFill>
                <a:latin typeface="Arial"/>
              </a:rPr>
              <a:t>Hàm mất mát</a:t>
            </a:r>
          </a:p>
          <a:p>
            <a:pPr algn="l">
              <a:lnSpc>
                <a:spcPct val="115000"/>
              </a:lnSpc>
              <a:spcAft>
                <a:spcPts val="600"/>
              </a:spcAft>
            </a:pPr>
            <a:r>
              <a:rPr sz="1500" b="1">
                <a:solidFill>
                  <a:srgbClr val="2E6FD9"/>
                </a:solidFill>
                <a:latin typeface="Arial"/>
              </a:rPr>
              <a:t>L  =  L_content  +  10 · L_style  +  1 · L_identity</a:t>
            </a:r>
          </a:p>
          <a:p>
            <a:pPr algn="l">
              <a:lnSpc>
                <a:spcPct val="115000"/>
              </a:lnSpc>
              <a:spcAft>
                <a:spcPts val="600"/>
              </a:spcAft>
            </a:pPr>
            <a:r>
              <a:rPr sz="1400" b="0">
                <a:solidFill>
                  <a:srgbClr val="5A6375"/>
                </a:solidFill>
                <a:latin typeface="Arial"/>
              </a:rPr>
              <a:t>· L_content — khớp đặc trưng đầu ra với đặc trưng AdaIN → giữ bố cục.</a:t>
            </a:r>
          </a:p>
          <a:p>
            <a:pPr algn="l">
              <a:lnSpc>
                <a:spcPct val="115000"/>
              </a:lnSpc>
              <a:spcAft>
                <a:spcPts val="600"/>
              </a:spcAft>
            </a:pPr>
            <a:r>
              <a:rPr sz="1400" b="0">
                <a:solidFill>
                  <a:srgbClr val="5A6375"/>
                </a:solidFill>
                <a:latin typeface="Arial"/>
              </a:rPr>
              <a:t>· L_style — khớp mean/std ở 4 tầng VGG → giống tông thời tiết.</a:t>
            </a:r>
          </a:p>
          <a:p>
            <a:pPr algn="l">
              <a:lnSpc>
                <a:spcPct val="115000"/>
              </a:lnSpc>
              <a:spcAft>
                <a:spcPts val="600"/>
              </a:spcAft>
            </a:pPr>
            <a:r>
              <a:rPr sz="1400" b="0">
                <a:solidFill>
                  <a:srgbClr val="5A6375"/>
                </a:solidFill>
                <a:latin typeface="Arial"/>
              </a:rPr>
              <a:t>· L_identity — khi style = content thì đầu ra phải bằng ảnh gốc.</a:t>
            </a:r>
          </a:p>
          <a:p>
            <a:pPr algn="l">
              <a:lnSpc>
                <a:spcPct val="115000"/>
              </a:lnSpc>
              <a:spcAft>
                <a:spcPts val="600"/>
              </a:spcAft>
            </a:pPr>
            <a:r>
              <a:rPr sz="1400" b="0">
                <a:solidFill>
                  <a:srgbClr val="5A6375"/>
                </a:solidFill>
                <a:latin typeface="Arial"/>
              </a:rPr>
              <a:t>   Đây là điểm bổ sung so với AdaIN gốc: ép decoder trung thực,</a:t>
            </a:r>
          </a:p>
          <a:p>
            <a:pPr algn="l">
              <a:lnSpc>
                <a:spcPct val="115000"/>
              </a:lnSpc>
              <a:spcAft>
                <a:spcPts val="600"/>
              </a:spcAft>
            </a:pPr>
            <a:r>
              <a:rPr sz="1400" b="0">
                <a:solidFill>
                  <a:srgbClr val="5A6375"/>
                </a:solidFill>
                <a:latin typeface="Arial"/>
              </a:rPr>
              <a:t>   giảm méo cấu trúc — điều kiện sống còn để nhãn còn dùng được.</a:t>
            </a:r>
          </a:p>
        </p:txBody>
      </p:sp>
      <p:pic>
        <p:nvPicPr>
          <p:cNvPr id="34" name="Picture 33" descr="fig_loss.png"/>
          <p:cNvPicPr>
            <a:picLocks noChangeAspect="1"/>
          </p:cNvPicPr>
          <p:nvPr/>
        </p:nvPicPr>
        <p:blipFill>
          <a:blip r:embed="rId2"/>
          <a:stretch>
            <a:fillRect/>
          </a:stretch>
        </p:blipFill>
        <p:spPr>
          <a:xfrm>
            <a:off x="2123667" y="4434840"/>
            <a:ext cx="7914185" cy="20116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292"/>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424160" cy="822960"/>
          </a:xfrm>
          <a:prstGeom prst="rect">
            <a:avLst/>
          </a:prstGeom>
          <a:noFill/>
        </p:spPr>
        <p:txBody>
          <a:bodyPr wrap="square" lIns="0" rIns="0">
            <a:spAutoFit/>
          </a:bodyPr>
          <a:lstStyle/>
          <a:p>
            <a:pPr algn="l">
              <a:lnSpc>
                <a:spcPct val="115000"/>
              </a:lnSpc>
              <a:spcAft>
                <a:spcPts val="600"/>
              </a:spcAft>
            </a:pPr>
            <a:r>
              <a:rPr sz="2700" b="1">
                <a:solidFill>
                  <a:srgbClr val="FFFFFF"/>
                </a:solidFill>
                <a:latin typeface="Arial"/>
              </a:rPr>
              <a:t>Kết quả — 5 loại thời tiết</a:t>
            </a:r>
          </a:p>
          <a:p>
            <a:pPr algn="l">
              <a:lnSpc>
                <a:spcPct val="115000"/>
              </a:lnSpc>
              <a:spcAft>
                <a:spcPts val="600"/>
              </a:spcAft>
            </a:pPr>
            <a:r>
              <a:rPr sz="1300" b="0">
                <a:solidFill>
                  <a:srgbClr val="B6C2D9"/>
                </a:solidFill>
                <a:latin typeface="Arial"/>
              </a:rPr>
              <a:t>Cùng một ảnh gốc, đổi ảnh tham chiếu là đổi thời tiết</a:t>
            </a:r>
          </a:p>
        </p:txBody>
      </p:sp>
      <p:sp>
        <p:nvSpPr>
          <p:cNvPr id="5" name="TextBox 4"/>
          <p:cNvSpPr txBox="1"/>
          <p:nvPr/>
        </p:nvSpPr>
        <p:spPr>
          <a:xfrm>
            <a:off x="11155680" y="6355080"/>
            <a:ext cx="822960" cy="365760"/>
          </a:xfrm>
          <a:prstGeom prst="rect">
            <a:avLst/>
          </a:prstGeom>
          <a:noFill/>
        </p:spPr>
        <p:txBody>
          <a:bodyPr wrap="square" lIns="0" rIns="0">
            <a:spAutoFit/>
          </a:bodyPr>
          <a:lstStyle/>
          <a:p>
            <a:pPr algn="r">
              <a:lnSpc>
                <a:spcPct val="115000"/>
              </a:lnSpc>
              <a:spcAft>
                <a:spcPts val="600"/>
              </a:spcAft>
            </a:pPr>
            <a:r>
              <a:rPr sz="1100" b="0">
                <a:solidFill>
                  <a:srgbClr val="5A6375"/>
                </a:solidFill>
                <a:latin typeface="Arial"/>
              </a:rPr>
              <a:t>6</a:t>
            </a:r>
          </a:p>
        </p:txBody>
      </p:sp>
      <p:pic>
        <p:nvPicPr>
          <p:cNvPr id="6" name="Picture 5" descr="fig_weather_types.jpg"/>
          <p:cNvPicPr>
            <a:picLocks noChangeAspect="1"/>
          </p:cNvPicPr>
          <p:nvPr/>
        </p:nvPicPr>
        <p:blipFill>
          <a:blip r:embed="rId2"/>
          <a:stretch>
            <a:fillRect/>
          </a:stretch>
        </p:blipFill>
        <p:spPr>
          <a:xfrm>
            <a:off x="457200" y="2208193"/>
            <a:ext cx="11247120" cy="317313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292"/>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424160" cy="822960"/>
          </a:xfrm>
          <a:prstGeom prst="rect">
            <a:avLst/>
          </a:prstGeom>
          <a:noFill/>
        </p:spPr>
        <p:txBody>
          <a:bodyPr wrap="square" lIns="0" rIns="0">
            <a:spAutoFit/>
          </a:bodyPr>
          <a:lstStyle/>
          <a:p>
            <a:pPr algn="l">
              <a:lnSpc>
                <a:spcPct val="115000"/>
              </a:lnSpc>
              <a:spcAft>
                <a:spcPts val="600"/>
              </a:spcAft>
            </a:pPr>
            <a:r>
              <a:rPr sz="2700" b="1">
                <a:solidFill>
                  <a:srgbClr val="FFFFFF"/>
                </a:solidFill>
                <a:latin typeface="Arial"/>
              </a:rPr>
              <a:t>Kết quả — ví dụ đầu vào/đầu ra</a:t>
            </a:r>
          </a:p>
          <a:p>
            <a:pPr algn="l">
              <a:lnSpc>
                <a:spcPct val="115000"/>
              </a:lnSpc>
              <a:spcAft>
                <a:spcPts val="600"/>
              </a:spcAft>
            </a:pPr>
            <a:r>
              <a:rPr sz="1300" b="0">
                <a:solidFill>
                  <a:srgbClr val="B6C2D9"/>
                </a:solidFill>
                <a:latin typeface="Arial"/>
              </a:rPr>
              <a:t>Trái: 2 đầu vào · Phải: ảnh sinh ra</a:t>
            </a:r>
          </a:p>
        </p:txBody>
      </p:sp>
      <p:sp>
        <p:nvSpPr>
          <p:cNvPr id="5" name="TextBox 4"/>
          <p:cNvSpPr txBox="1"/>
          <p:nvPr/>
        </p:nvSpPr>
        <p:spPr>
          <a:xfrm>
            <a:off x="11155680" y="6355080"/>
            <a:ext cx="822960" cy="365760"/>
          </a:xfrm>
          <a:prstGeom prst="rect">
            <a:avLst/>
          </a:prstGeom>
          <a:noFill/>
        </p:spPr>
        <p:txBody>
          <a:bodyPr wrap="square" lIns="0" rIns="0">
            <a:spAutoFit/>
          </a:bodyPr>
          <a:lstStyle/>
          <a:p>
            <a:pPr algn="r">
              <a:lnSpc>
                <a:spcPct val="115000"/>
              </a:lnSpc>
              <a:spcAft>
                <a:spcPts val="600"/>
              </a:spcAft>
            </a:pPr>
            <a:r>
              <a:rPr sz="1100" b="0">
                <a:solidFill>
                  <a:srgbClr val="5A6375"/>
                </a:solidFill>
                <a:latin typeface="Arial"/>
              </a:rPr>
              <a:t>7</a:t>
            </a:r>
          </a:p>
        </p:txBody>
      </p:sp>
      <p:pic>
        <p:nvPicPr>
          <p:cNvPr id="6" name="Picture 5" descr="fig_examples.jpg"/>
          <p:cNvPicPr>
            <a:picLocks noChangeAspect="1"/>
          </p:cNvPicPr>
          <p:nvPr/>
        </p:nvPicPr>
        <p:blipFill>
          <a:blip r:embed="rId2"/>
          <a:stretch>
            <a:fillRect/>
          </a:stretch>
        </p:blipFill>
        <p:spPr>
          <a:xfrm>
            <a:off x="2407987" y="1234440"/>
            <a:ext cx="7345546" cy="512063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292"/>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424160" cy="822960"/>
          </a:xfrm>
          <a:prstGeom prst="rect">
            <a:avLst/>
          </a:prstGeom>
          <a:noFill/>
        </p:spPr>
        <p:txBody>
          <a:bodyPr wrap="square" lIns="0" rIns="0">
            <a:spAutoFit/>
          </a:bodyPr>
          <a:lstStyle/>
          <a:p>
            <a:pPr algn="l">
              <a:lnSpc>
                <a:spcPct val="115000"/>
              </a:lnSpc>
              <a:spcAft>
                <a:spcPts val="600"/>
              </a:spcAft>
            </a:pPr>
            <a:r>
              <a:rPr sz="2700" b="1">
                <a:solidFill>
                  <a:srgbClr val="FFFFFF"/>
                </a:solidFill>
                <a:latin typeface="Arial"/>
              </a:rPr>
              <a:t>Điều khiển cường độ bằng alpha</a:t>
            </a:r>
          </a:p>
          <a:p>
            <a:pPr algn="l">
              <a:lnSpc>
                <a:spcPct val="115000"/>
              </a:lnSpc>
              <a:spcAft>
                <a:spcPts val="600"/>
              </a:spcAft>
            </a:pPr>
            <a:r>
              <a:rPr sz="1300" b="0">
                <a:solidFill>
                  <a:srgbClr val="B6C2D9"/>
                </a:solidFill>
                <a:latin typeface="Arial"/>
              </a:rPr>
              <a:t>Một cặp ảnh sinh ra nhiều mức nặng/nhẹ → tăng độ đa dạng dữ liệu</a:t>
            </a:r>
          </a:p>
        </p:txBody>
      </p:sp>
      <p:sp>
        <p:nvSpPr>
          <p:cNvPr id="5" name="TextBox 4"/>
          <p:cNvSpPr txBox="1"/>
          <p:nvPr/>
        </p:nvSpPr>
        <p:spPr>
          <a:xfrm>
            <a:off x="11155680" y="6355080"/>
            <a:ext cx="822960" cy="365760"/>
          </a:xfrm>
          <a:prstGeom prst="rect">
            <a:avLst/>
          </a:prstGeom>
          <a:noFill/>
        </p:spPr>
        <p:txBody>
          <a:bodyPr wrap="square" lIns="0" rIns="0">
            <a:spAutoFit/>
          </a:bodyPr>
          <a:lstStyle/>
          <a:p>
            <a:pPr algn="r">
              <a:lnSpc>
                <a:spcPct val="115000"/>
              </a:lnSpc>
              <a:spcAft>
                <a:spcPts val="600"/>
              </a:spcAft>
            </a:pPr>
            <a:r>
              <a:rPr sz="1100" b="0">
                <a:solidFill>
                  <a:srgbClr val="5A6375"/>
                </a:solidFill>
                <a:latin typeface="Arial"/>
              </a:rPr>
              <a:t>8</a:t>
            </a:r>
          </a:p>
        </p:txBody>
      </p:sp>
      <p:pic>
        <p:nvPicPr>
          <p:cNvPr id="6" name="Picture 5" descr="fig_alpha.jpg"/>
          <p:cNvPicPr>
            <a:picLocks noChangeAspect="1"/>
          </p:cNvPicPr>
          <p:nvPr/>
        </p:nvPicPr>
        <p:blipFill>
          <a:blip r:embed="rId2"/>
          <a:stretch>
            <a:fillRect/>
          </a:stretch>
        </p:blipFill>
        <p:spPr>
          <a:xfrm>
            <a:off x="457200" y="2497500"/>
            <a:ext cx="11247120" cy="25945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292"/>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424160" cy="822960"/>
          </a:xfrm>
          <a:prstGeom prst="rect">
            <a:avLst/>
          </a:prstGeom>
          <a:noFill/>
        </p:spPr>
        <p:txBody>
          <a:bodyPr wrap="square" lIns="0" rIns="0">
            <a:spAutoFit/>
          </a:bodyPr>
          <a:lstStyle/>
          <a:p>
            <a:pPr algn="l">
              <a:lnSpc>
                <a:spcPct val="115000"/>
              </a:lnSpc>
              <a:spcAft>
                <a:spcPts val="600"/>
              </a:spcAft>
            </a:pPr>
            <a:r>
              <a:rPr sz="2700" b="1">
                <a:solidFill>
                  <a:srgbClr val="FFFFFF"/>
                </a:solidFill>
                <a:latin typeface="Arial"/>
              </a:rPr>
              <a:t>Đóng góp của từng khối (ablation)</a:t>
            </a:r>
          </a:p>
          <a:p>
            <a:pPr algn="l">
              <a:lnSpc>
                <a:spcPct val="115000"/>
              </a:lnSpc>
              <a:spcAft>
                <a:spcPts val="600"/>
              </a:spcAft>
            </a:pPr>
            <a:r>
              <a:rPr sz="1300" b="0">
                <a:solidFill>
                  <a:srgbClr val="B6C2D9"/>
                </a:solidFill>
                <a:latin typeface="Arial"/>
              </a:rPr>
              <a:t>Từ trái sang phải: thêm dần từng thành phần</a:t>
            </a:r>
          </a:p>
        </p:txBody>
      </p:sp>
      <p:sp>
        <p:nvSpPr>
          <p:cNvPr id="5" name="TextBox 4"/>
          <p:cNvSpPr txBox="1"/>
          <p:nvPr/>
        </p:nvSpPr>
        <p:spPr>
          <a:xfrm>
            <a:off x="11155680" y="6355080"/>
            <a:ext cx="822960" cy="365760"/>
          </a:xfrm>
          <a:prstGeom prst="rect">
            <a:avLst/>
          </a:prstGeom>
          <a:noFill/>
        </p:spPr>
        <p:txBody>
          <a:bodyPr wrap="square" lIns="0" rIns="0">
            <a:spAutoFit/>
          </a:bodyPr>
          <a:lstStyle/>
          <a:p>
            <a:pPr algn="r">
              <a:lnSpc>
                <a:spcPct val="115000"/>
              </a:lnSpc>
              <a:spcAft>
                <a:spcPts val="600"/>
              </a:spcAft>
            </a:pPr>
            <a:r>
              <a:rPr sz="1100" b="0">
                <a:solidFill>
                  <a:srgbClr val="5A6375"/>
                </a:solidFill>
                <a:latin typeface="Arial"/>
              </a:rPr>
              <a:t>9</a:t>
            </a:r>
          </a:p>
        </p:txBody>
      </p:sp>
      <p:pic>
        <p:nvPicPr>
          <p:cNvPr id="6" name="Picture 5" descr="fig_ablation.jpg"/>
          <p:cNvPicPr>
            <a:picLocks noChangeAspect="1"/>
          </p:cNvPicPr>
          <p:nvPr/>
        </p:nvPicPr>
        <p:blipFill>
          <a:blip r:embed="rId2"/>
          <a:stretch>
            <a:fillRect/>
          </a:stretch>
        </p:blipFill>
        <p:spPr>
          <a:xfrm>
            <a:off x="457200" y="1920240"/>
            <a:ext cx="11247120" cy="37490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292"/>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424160" cy="822960"/>
          </a:xfrm>
          <a:prstGeom prst="rect">
            <a:avLst/>
          </a:prstGeom>
          <a:noFill/>
        </p:spPr>
        <p:txBody>
          <a:bodyPr wrap="square" lIns="0" rIns="0">
            <a:spAutoFit/>
          </a:bodyPr>
          <a:lstStyle/>
          <a:p>
            <a:pPr algn="l">
              <a:lnSpc>
                <a:spcPct val="115000"/>
              </a:lnSpc>
              <a:spcAft>
                <a:spcPts val="600"/>
              </a:spcAft>
            </a:pPr>
            <a:r>
              <a:rPr sz="2700" b="1">
                <a:solidFill>
                  <a:srgbClr val="FFFFFF"/>
                </a:solidFill>
                <a:latin typeface="Arial"/>
              </a:rPr>
              <a:t>Bằng chứng: nhãn cũ vẫn khớp</a:t>
            </a:r>
          </a:p>
          <a:p>
            <a:pPr algn="l">
              <a:lnSpc>
                <a:spcPct val="115000"/>
              </a:lnSpc>
              <a:spcAft>
                <a:spcPts val="600"/>
              </a:spcAft>
            </a:pPr>
            <a:r>
              <a:rPr sz="1300" b="0">
                <a:solidFill>
                  <a:srgbClr val="B6C2D9"/>
                </a:solidFill>
                <a:latin typeface="Arial"/>
              </a:rPr>
              <a:t>Cùng một bộ bounding box vẽ lên ảnh gốc và ảnh tăng cường</a:t>
            </a:r>
          </a:p>
        </p:txBody>
      </p:sp>
      <p:sp>
        <p:nvSpPr>
          <p:cNvPr id="5" name="TextBox 4"/>
          <p:cNvSpPr txBox="1"/>
          <p:nvPr/>
        </p:nvSpPr>
        <p:spPr>
          <a:xfrm>
            <a:off x="11155680" y="6355080"/>
            <a:ext cx="822960" cy="365760"/>
          </a:xfrm>
          <a:prstGeom prst="rect">
            <a:avLst/>
          </a:prstGeom>
          <a:noFill/>
        </p:spPr>
        <p:txBody>
          <a:bodyPr wrap="square" lIns="0" rIns="0">
            <a:spAutoFit/>
          </a:bodyPr>
          <a:lstStyle/>
          <a:p>
            <a:pPr algn="r">
              <a:lnSpc>
                <a:spcPct val="115000"/>
              </a:lnSpc>
              <a:spcAft>
                <a:spcPts val="600"/>
              </a:spcAft>
            </a:pPr>
            <a:r>
              <a:rPr sz="1100" b="0">
                <a:solidFill>
                  <a:srgbClr val="5A6375"/>
                </a:solidFill>
                <a:latin typeface="Arial"/>
              </a:rPr>
              <a:t>10</a:t>
            </a:r>
          </a:p>
        </p:txBody>
      </p:sp>
      <p:pic>
        <p:nvPicPr>
          <p:cNvPr id="6" name="Picture 5" descr="fig_labels.jpg"/>
          <p:cNvPicPr>
            <a:picLocks noChangeAspect="1"/>
          </p:cNvPicPr>
          <p:nvPr/>
        </p:nvPicPr>
        <p:blipFill>
          <a:blip r:embed="rId2"/>
          <a:stretch>
            <a:fillRect/>
          </a:stretch>
        </p:blipFill>
        <p:spPr>
          <a:xfrm>
            <a:off x="3183267" y="1188720"/>
            <a:ext cx="5794985" cy="4480560"/>
          </a:xfrm>
          <a:prstGeom prst="rect">
            <a:avLst/>
          </a:prstGeom>
        </p:spPr>
      </p:pic>
      <p:sp>
        <p:nvSpPr>
          <p:cNvPr id="7" name="TextBox 6"/>
          <p:cNvSpPr txBox="1"/>
          <p:nvPr/>
        </p:nvSpPr>
        <p:spPr>
          <a:xfrm>
            <a:off x="640080" y="5806440"/>
            <a:ext cx="10881360" cy="731520"/>
          </a:xfrm>
          <a:prstGeom prst="rect">
            <a:avLst/>
          </a:prstGeom>
          <a:noFill/>
        </p:spPr>
        <p:txBody>
          <a:bodyPr wrap="square" lIns="0" rIns="0">
            <a:spAutoFit/>
          </a:bodyPr>
          <a:lstStyle/>
          <a:p>
            <a:pPr algn="l">
              <a:lnSpc>
                <a:spcPct val="115000"/>
              </a:lnSpc>
              <a:spcAft>
                <a:spcPts val="600"/>
              </a:spcAft>
            </a:pPr>
            <a:r>
              <a:rPr sz="1600" b="1">
                <a:solidFill>
                  <a:srgbClr val="101B33"/>
                </a:solidFill>
                <a:latin typeface="Arial"/>
              </a:rPr>
              <a:t>Không cần gán nhãn lại: mỗi ảnh sinh ra chỉ việc sao chép file nhãn của ảnh gốc.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292"/>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424160" cy="822960"/>
          </a:xfrm>
          <a:prstGeom prst="rect">
            <a:avLst/>
          </a:prstGeom>
          <a:noFill/>
        </p:spPr>
        <p:txBody>
          <a:bodyPr wrap="square" lIns="0" rIns="0">
            <a:spAutoFit/>
          </a:bodyPr>
          <a:lstStyle/>
          <a:p>
            <a:pPr algn="l">
              <a:lnSpc>
                <a:spcPct val="115000"/>
              </a:lnSpc>
              <a:spcAft>
                <a:spcPts val="600"/>
              </a:spcAft>
            </a:pPr>
            <a:r>
              <a:rPr sz="2700" b="1">
                <a:solidFill>
                  <a:srgbClr val="FFFFFF"/>
                </a:solidFill>
                <a:latin typeface="Arial"/>
              </a:rPr>
              <a:t>Đánh giá định lượng</a:t>
            </a:r>
          </a:p>
          <a:p>
            <a:pPr algn="l">
              <a:lnSpc>
                <a:spcPct val="115000"/>
              </a:lnSpc>
              <a:spcAft>
                <a:spcPts val="600"/>
              </a:spcAft>
            </a:pPr>
            <a:r>
              <a:rPr sz="1300" b="0">
                <a:solidFill>
                  <a:srgbClr val="B6C2D9"/>
                </a:solidFill>
                <a:latin typeface="Arial"/>
              </a:rPr>
              <a:t>Giữ nội dung (SSIM/EdgeRecall) và giống thật (FID)</a:t>
            </a:r>
          </a:p>
        </p:txBody>
      </p:sp>
      <p:sp>
        <p:nvSpPr>
          <p:cNvPr id="5" name="TextBox 4"/>
          <p:cNvSpPr txBox="1"/>
          <p:nvPr/>
        </p:nvSpPr>
        <p:spPr>
          <a:xfrm>
            <a:off x="11155680" y="6355080"/>
            <a:ext cx="822960" cy="365760"/>
          </a:xfrm>
          <a:prstGeom prst="rect">
            <a:avLst/>
          </a:prstGeom>
          <a:noFill/>
        </p:spPr>
        <p:txBody>
          <a:bodyPr wrap="square" lIns="0" rIns="0">
            <a:spAutoFit/>
          </a:bodyPr>
          <a:lstStyle/>
          <a:p>
            <a:pPr algn="r">
              <a:lnSpc>
                <a:spcPct val="115000"/>
              </a:lnSpc>
              <a:spcAft>
                <a:spcPts val="600"/>
              </a:spcAft>
            </a:pPr>
            <a:r>
              <a:rPr sz="1100" b="0">
                <a:solidFill>
                  <a:srgbClr val="5A6375"/>
                </a:solidFill>
                <a:latin typeface="Arial"/>
              </a:rPr>
              <a:t>11</a:t>
            </a:r>
          </a:p>
        </p:txBody>
      </p:sp>
      <p:sp>
        <p:nvSpPr>
          <p:cNvPr id="6" name="Rectangle 5"/>
          <p:cNvSpPr/>
          <p:nvPr/>
        </p:nvSpPr>
        <p:spPr>
          <a:xfrm>
            <a:off x="640080" y="1371600"/>
            <a:ext cx="10881360" cy="45720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435608"/>
            <a:ext cx="3840480" cy="457200"/>
          </a:xfrm>
          <a:prstGeom prst="rect">
            <a:avLst/>
          </a:prstGeom>
          <a:noFill/>
        </p:spPr>
        <p:txBody>
          <a:bodyPr wrap="square" lIns="0" rIns="0">
            <a:spAutoFit/>
          </a:bodyPr>
          <a:lstStyle/>
          <a:p>
            <a:pPr algn="l">
              <a:lnSpc>
                <a:spcPct val="115000"/>
              </a:lnSpc>
              <a:spcAft>
                <a:spcPts val="600"/>
              </a:spcAft>
            </a:pPr>
            <a:r>
              <a:rPr sz="1300" b="1">
                <a:solidFill>
                  <a:srgbClr val="FFFFFF"/>
                </a:solidFill>
                <a:latin typeface="Arial"/>
              </a:rPr>
              <a:t>Phương pháp</a:t>
            </a:r>
          </a:p>
        </p:txBody>
      </p:sp>
      <p:sp>
        <p:nvSpPr>
          <p:cNvPr id="8" name="TextBox 7"/>
          <p:cNvSpPr txBox="1"/>
          <p:nvPr/>
        </p:nvSpPr>
        <p:spPr>
          <a:xfrm>
            <a:off x="4590288" y="1435608"/>
            <a:ext cx="1737360" cy="457200"/>
          </a:xfrm>
          <a:prstGeom prst="rect">
            <a:avLst/>
          </a:prstGeom>
          <a:noFill/>
        </p:spPr>
        <p:txBody>
          <a:bodyPr wrap="square" lIns="0" rIns="0">
            <a:spAutoFit/>
          </a:bodyPr>
          <a:lstStyle/>
          <a:p>
            <a:pPr algn="l">
              <a:lnSpc>
                <a:spcPct val="115000"/>
              </a:lnSpc>
              <a:spcAft>
                <a:spcPts val="600"/>
              </a:spcAft>
            </a:pPr>
            <a:r>
              <a:rPr sz="1300" b="1">
                <a:solidFill>
                  <a:srgbClr val="FFFFFF"/>
                </a:solidFill>
                <a:latin typeface="Arial"/>
              </a:rPr>
              <a:t>SSIM ↑</a:t>
            </a:r>
          </a:p>
        </p:txBody>
      </p:sp>
      <p:sp>
        <p:nvSpPr>
          <p:cNvPr id="9" name="TextBox 8"/>
          <p:cNvSpPr txBox="1"/>
          <p:nvPr/>
        </p:nvSpPr>
        <p:spPr>
          <a:xfrm>
            <a:off x="6327648" y="1435608"/>
            <a:ext cx="1737360" cy="457200"/>
          </a:xfrm>
          <a:prstGeom prst="rect">
            <a:avLst/>
          </a:prstGeom>
          <a:noFill/>
        </p:spPr>
        <p:txBody>
          <a:bodyPr wrap="square" lIns="0" rIns="0">
            <a:spAutoFit/>
          </a:bodyPr>
          <a:lstStyle/>
          <a:p>
            <a:pPr algn="l">
              <a:lnSpc>
                <a:spcPct val="115000"/>
              </a:lnSpc>
              <a:spcAft>
                <a:spcPts val="600"/>
              </a:spcAft>
            </a:pPr>
            <a:r>
              <a:rPr sz="1300" b="1">
                <a:solidFill>
                  <a:srgbClr val="FFFFFF"/>
                </a:solidFill>
                <a:latin typeface="Arial"/>
              </a:rPr>
              <a:t>PSNR ↑</a:t>
            </a:r>
          </a:p>
        </p:txBody>
      </p:sp>
      <p:sp>
        <p:nvSpPr>
          <p:cNvPr id="10" name="TextBox 9"/>
          <p:cNvSpPr txBox="1"/>
          <p:nvPr/>
        </p:nvSpPr>
        <p:spPr>
          <a:xfrm>
            <a:off x="8065008" y="1435608"/>
            <a:ext cx="1828800" cy="457200"/>
          </a:xfrm>
          <a:prstGeom prst="rect">
            <a:avLst/>
          </a:prstGeom>
          <a:noFill/>
        </p:spPr>
        <p:txBody>
          <a:bodyPr wrap="square" lIns="0" rIns="0">
            <a:spAutoFit/>
          </a:bodyPr>
          <a:lstStyle/>
          <a:p>
            <a:pPr algn="l">
              <a:lnSpc>
                <a:spcPct val="115000"/>
              </a:lnSpc>
              <a:spcAft>
                <a:spcPts val="600"/>
              </a:spcAft>
            </a:pPr>
            <a:r>
              <a:rPr sz="1300" b="1">
                <a:solidFill>
                  <a:srgbClr val="FFFFFF"/>
                </a:solidFill>
                <a:latin typeface="Arial"/>
              </a:rPr>
              <a:t>EdgeRec ↑</a:t>
            </a:r>
          </a:p>
        </p:txBody>
      </p:sp>
      <p:sp>
        <p:nvSpPr>
          <p:cNvPr id="11" name="TextBox 10"/>
          <p:cNvSpPr txBox="1"/>
          <p:nvPr/>
        </p:nvSpPr>
        <p:spPr>
          <a:xfrm>
            <a:off x="9893808" y="1435608"/>
            <a:ext cx="1737360" cy="457200"/>
          </a:xfrm>
          <a:prstGeom prst="rect">
            <a:avLst/>
          </a:prstGeom>
          <a:noFill/>
        </p:spPr>
        <p:txBody>
          <a:bodyPr wrap="square" lIns="0" rIns="0">
            <a:spAutoFit/>
          </a:bodyPr>
          <a:lstStyle/>
          <a:p>
            <a:pPr algn="l">
              <a:lnSpc>
                <a:spcPct val="115000"/>
              </a:lnSpc>
              <a:spcAft>
                <a:spcPts val="600"/>
              </a:spcAft>
            </a:pPr>
            <a:r>
              <a:rPr sz="1300" b="1">
                <a:solidFill>
                  <a:srgbClr val="FFFFFF"/>
                </a:solidFill>
                <a:latin typeface="Arial"/>
              </a:rPr>
              <a:t>FID ↓</a:t>
            </a:r>
          </a:p>
        </p:txBody>
      </p:sp>
      <p:sp>
        <p:nvSpPr>
          <p:cNvPr id="12" name="Rectangle 11"/>
          <p:cNvSpPr/>
          <p:nvPr/>
        </p:nvSpPr>
        <p:spPr>
          <a:xfrm>
            <a:off x="640080" y="1828800"/>
            <a:ext cx="10881360" cy="4572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892808"/>
            <a:ext cx="384048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Không tăng cường (mốc domain gap)</a:t>
            </a:r>
          </a:p>
        </p:txBody>
      </p:sp>
      <p:sp>
        <p:nvSpPr>
          <p:cNvPr id="14" name="TextBox 13"/>
          <p:cNvSpPr txBox="1"/>
          <p:nvPr/>
        </p:nvSpPr>
        <p:spPr>
          <a:xfrm>
            <a:off x="4590288" y="1892808"/>
            <a:ext cx="173736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a:t>
            </a:r>
          </a:p>
        </p:txBody>
      </p:sp>
      <p:sp>
        <p:nvSpPr>
          <p:cNvPr id="15" name="TextBox 14"/>
          <p:cNvSpPr txBox="1"/>
          <p:nvPr/>
        </p:nvSpPr>
        <p:spPr>
          <a:xfrm>
            <a:off x="6327648" y="1892808"/>
            <a:ext cx="173736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a:t>
            </a:r>
          </a:p>
        </p:txBody>
      </p:sp>
      <p:sp>
        <p:nvSpPr>
          <p:cNvPr id="16" name="TextBox 15"/>
          <p:cNvSpPr txBox="1"/>
          <p:nvPr/>
        </p:nvSpPr>
        <p:spPr>
          <a:xfrm>
            <a:off x="8065008" y="1892808"/>
            <a:ext cx="182880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a:t>
            </a:r>
          </a:p>
        </p:txBody>
      </p:sp>
      <p:sp>
        <p:nvSpPr>
          <p:cNvPr id="17" name="TextBox 16"/>
          <p:cNvSpPr txBox="1"/>
          <p:nvPr/>
        </p:nvSpPr>
        <p:spPr>
          <a:xfrm>
            <a:off x="9893808" y="1892808"/>
            <a:ext cx="173736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99.40</a:t>
            </a:r>
          </a:p>
        </p:txBody>
      </p:sp>
      <p:sp>
        <p:nvSpPr>
          <p:cNvPr id="18" name="Rectangle 17"/>
          <p:cNvSpPr/>
          <p:nvPr/>
        </p:nvSpPr>
        <p:spPr>
          <a:xfrm>
            <a:off x="640080" y="2286000"/>
            <a:ext cx="108813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350008"/>
            <a:ext cx="384048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Baseline vật lý</a:t>
            </a:r>
          </a:p>
        </p:txBody>
      </p:sp>
      <p:sp>
        <p:nvSpPr>
          <p:cNvPr id="20" name="TextBox 19"/>
          <p:cNvSpPr txBox="1"/>
          <p:nvPr/>
        </p:nvSpPr>
        <p:spPr>
          <a:xfrm>
            <a:off x="4590288" y="2350008"/>
            <a:ext cx="173736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0.6076</a:t>
            </a:r>
          </a:p>
        </p:txBody>
      </p:sp>
      <p:sp>
        <p:nvSpPr>
          <p:cNvPr id="21" name="TextBox 20"/>
          <p:cNvSpPr txBox="1"/>
          <p:nvPr/>
        </p:nvSpPr>
        <p:spPr>
          <a:xfrm>
            <a:off x="6327648" y="2350008"/>
            <a:ext cx="173736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13.32</a:t>
            </a:r>
          </a:p>
        </p:txBody>
      </p:sp>
      <p:sp>
        <p:nvSpPr>
          <p:cNvPr id="22" name="TextBox 21"/>
          <p:cNvSpPr txBox="1"/>
          <p:nvPr/>
        </p:nvSpPr>
        <p:spPr>
          <a:xfrm>
            <a:off x="8065008" y="2350008"/>
            <a:ext cx="182880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0.5092</a:t>
            </a:r>
          </a:p>
        </p:txBody>
      </p:sp>
      <p:sp>
        <p:nvSpPr>
          <p:cNvPr id="23" name="TextBox 22"/>
          <p:cNvSpPr txBox="1"/>
          <p:nvPr/>
        </p:nvSpPr>
        <p:spPr>
          <a:xfrm>
            <a:off x="9893808" y="2350008"/>
            <a:ext cx="173736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177.03</a:t>
            </a:r>
          </a:p>
        </p:txBody>
      </p:sp>
      <p:sp>
        <p:nvSpPr>
          <p:cNvPr id="24" name="Rectangle 23"/>
          <p:cNvSpPr/>
          <p:nvPr/>
        </p:nvSpPr>
        <p:spPr>
          <a:xfrm>
            <a:off x="640080" y="2743200"/>
            <a:ext cx="10881360" cy="4572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2807208"/>
            <a:ext cx="384048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Chỉ AdaIN</a:t>
            </a:r>
          </a:p>
        </p:txBody>
      </p:sp>
      <p:sp>
        <p:nvSpPr>
          <p:cNvPr id="26" name="TextBox 25"/>
          <p:cNvSpPr txBox="1"/>
          <p:nvPr/>
        </p:nvSpPr>
        <p:spPr>
          <a:xfrm>
            <a:off x="4590288" y="2807208"/>
            <a:ext cx="173736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0.4521</a:t>
            </a:r>
          </a:p>
        </p:txBody>
      </p:sp>
      <p:sp>
        <p:nvSpPr>
          <p:cNvPr id="27" name="TextBox 26"/>
          <p:cNvSpPr txBox="1"/>
          <p:nvPr/>
        </p:nvSpPr>
        <p:spPr>
          <a:xfrm>
            <a:off x="6327648" y="2807208"/>
            <a:ext cx="173736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14.13</a:t>
            </a:r>
          </a:p>
        </p:txBody>
      </p:sp>
      <p:sp>
        <p:nvSpPr>
          <p:cNvPr id="28" name="TextBox 27"/>
          <p:cNvSpPr txBox="1"/>
          <p:nvPr/>
        </p:nvSpPr>
        <p:spPr>
          <a:xfrm>
            <a:off x="8065008" y="2807208"/>
            <a:ext cx="182880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0.6073</a:t>
            </a:r>
          </a:p>
        </p:txBody>
      </p:sp>
      <p:sp>
        <p:nvSpPr>
          <p:cNvPr id="29" name="TextBox 28"/>
          <p:cNvSpPr txBox="1"/>
          <p:nvPr/>
        </p:nvSpPr>
        <p:spPr>
          <a:xfrm>
            <a:off x="9893808" y="2807208"/>
            <a:ext cx="173736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125.85</a:t>
            </a:r>
          </a:p>
        </p:txBody>
      </p:sp>
      <p:sp>
        <p:nvSpPr>
          <p:cNvPr id="30" name="Rectangle 29"/>
          <p:cNvSpPr/>
          <p:nvPr/>
        </p:nvSpPr>
        <p:spPr>
          <a:xfrm>
            <a:off x="640080" y="3200400"/>
            <a:ext cx="108813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3264408"/>
            <a:ext cx="384048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AdaIN + GF + hạt (đề xuất)</a:t>
            </a:r>
          </a:p>
        </p:txBody>
      </p:sp>
      <p:sp>
        <p:nvSpPr>
          <p:cNvPr id="32" name="TextBox 31"/>
          <p:cNvSpPr txBox="1"/>
          <p:nvPr/>
        </p:nvSpPr>
        <p:spPr>
          <a:xfrm>
            <a:off x="4590288" y="3264408"/>
            <a:ext cx="173736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0.6100</a:t>
            </a:r>
          </a:p>
        </p:txBody>
      </p:sp>
      <p:sp>
        <p:nvSpPr>
          <p:cNvPr id="33" name="TextBox 32"/>
          <p:cNvSpPr txBox="1"/>
          <p:nvPr/>
        </p:nvSpPr>
        <p:spPr>
          <a:xfrm>
            <a:off x="6327648" y="3264408"/>
            <a:ext cx="173736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14.61</a:t>
            </a:r>
          </a:p>
        </p:txBody>
      </p:sp>
      <p:sp>
        <p:nvSpPr>
          <p:cNvPr id="34" name="TextBox 33"/>
          <p:cNvSpPr txBox="1"/>
          <p:nvPr/>
        </p:nvSpPr>
        <p:spPr>
          <a:xfrm>
            <a:off x="8065008" y="3264408"/>
            <a:ext cx="182880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0.4997</a:t>
            </a:r>
          </a:p>
        </p:txBody>
      </p:sp>
      <p:sp>
        <p:nvSpPr>
          <p:cNvPr id="35" name="TextBox 34"/>
          <p:cNvSpPr txBox="1"/>
          <p:nvPr/>
        </p:nvSpPr>
        <p:spPr>
          <a:xfrm>
            <a:off x="9893808" y="3264408"/>
            <a:ext cx="1737360" cy="457200"/>
          </a:xfrm>
          <a:prstGeom prst="rect">
            <a:avLst/>
          </a:prstGeom>
          <a:noFill/>
        </p:spPr>
        <p:txBody>
          <a:bodyPr wrap="square" lIns="0" rIns="0">
            <a:spAutoFit/>
          </a:bodyPr>
          <a:lstStyle/>
          <a:p>
            <a:pPr algn="l">
              <a:lnSpc>
                <a:spcPct val="115000"/>
              </a:lnSpc>
              <a:spcAft>
                <a:spcPts val="600"/>
              </a:spcAft>
            </a:pPr>
            <a:r>
              <a:rPr sz="1300" b="0">
                <a:solidFill>
                  <a:srgbClr val="101B33"/>
                </a:solidFill>
                <a:latin typeface="Arial"/>
              </a:rPr>
              <a:t>164.38</a:t>
            </a:r>
          </a:p>
        </p:txBody>
      </p:sp>
      <p:sp>
        <p:nvSpPr>
          <p:cNvPr id="36" name="Rectangle 35"/>
          <p:cNvSpPr/>
          <p:nvPr/>
        </p:nvSpPr>
        <p:spPr>
          <a:xfrm>
            <a:off x="640080" y="3986784"/>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3886200"/>
            <a:ext cx="10607040" cy="548640"/>
          </a:xfrm>
          <a:prstGeom prst="rect">
            <a:avLst/>
          </a:prstGeom>
          <a:noFill/>
        </p:spPr>
        <p:txBody>
          <a:bodyPr wrap="square" lIns="0" rIns="0">
            <a:spAutoFit/>
          </a:bodyPr>
          <a:lstStyle/>
          <a:p>
            <a:pPr algn="l">
              <a:lnSpc>
                <a:spcPct val="115000"/>
              </a:lnSpc>
              <a:spcAft>
                <a:spcPts val="600"/>
              </a:spcAft>
            </a:pPr>
            <a:r>
              <a:rPr sz="1400" b="1">
                <a:solidFill>
                  <a:srgbClr val="101B33"/>
                </a:solidFill>
                <a:latin typeface="Arial"/>
              </a:rPr>
              <a:t>SSIM / PSNR / EdgeRecall — mức giữ nội dung so với ảnh gốc (cao = nhãn còn dùng được).</a:t>
            </a:r>
          </a:p>
        </p:txBody>
      </p:sp>
      <p:sp>
        <p:nvSpPr>
          <p:cNvPr id="38" name="Rectangle 37"/>
          <p:cNvSpPr/>
          <p:nvPr/>
        </p:nvSpPr>
        <p:spPr>
          <a:xfrm>
            <a:off x="640080" y="4443984"/>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4343400"/>
            <a:ext cx="10607040" cy="548640"/>
          </a:xfrm>
          <a:prstGeom prst="rect">
            <a:avLst/>
          </a:prstGeom>
          <a:noFill/>
        </p:spPr>
        <p:txBody>
          <a:bodyPr wrap="square" lIns="0" rIns="0">
            <a:spAutoFit/>
          </a:bodyPr>
          <a:lstStyle/>
          <a:p>
            <a:pPr algn="l">
              <a:lnSpc>
                <a:spcPct val="115000"/>
              </a:lnSpc>
              <a:spcAft>
                <a:spcPts val="600"/>
              </a:spcAft>
            </a:pPr>
            <a:r>
              <a:rPr sz="1400" b="1">
                <a:solidFill>
                  <a:srgbClr val="101B33"/>
                </a:solidFill>
                <a:latin typeface="Arial"/>
              </a:rPr>
              <a:t>FID — khoảng cách tới ảnh mưa/tuyết THẬT của BDD100K (thấp = trông giống thật hơn).</a:t>
            </a:r>
          </a:p>
        </p:txBody>
      </p:sp>
      <p:sp>
        <p:nvSpPr>
          <p:cNvPr id="40" name="Rectangle 39"/>
          <p:cNvSpPr/>
          <p:nvPr/>
        </p:nvSpPr>
        <p:spPr>
          <a:xfrm>
            <a:off x="640080" y="4901184"/>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00600"/>
            <a:ext cx="10607040" cy="548640"/>
          </a:xfrm>
          <a:prstGeom prst="rect">
            <a:avLst/>
          </a:prstGeom>
          <a:noFill/>
        </p:spPr>
        <p:txBody>
          <a:bodyPr wrap="square" lIns="0" rIns="0">
            <a:spAutoFit/>
          </a:bodyPr>
          <a:lstStyle/>
          <a:p>
            <a:pPr algn="l">
              <a:lnSpc>
                <a:spcPct val="115000"/>
              </a:lnSpc>
              <a:spcAft>
                <a:spcPts val="600"/>
              </a:spcAft>
            </a:pPr>
            <a:r>
              <a:rPr sz="1400" b="0">
                <a:solidFill>
                  <a:srgbClr val="101B33"/>
                </a:solidFill>
                <a:latin typeface="Arial"/>
              </a:rPr>
              <a:t>Không phương pháp nào thắng tuyệt đối: bản đề xuất giữ nội dung tốt nhất (SSIM, PSNR),</a:t>
            </a:r>
          </a:p>
        </p:txBody>
      </p:sp>
      <p:sp>
        <p:nvSpPr>
          <p:cNvPr id="42" name="Rectangle 41"/>
          <p:cNvSpPr/>
          <p:nvPr/>
        </p:nvSpPr>
        <p:spPr>
          <a:xfrm>
            <a:off x="640080" y="5358384"/>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257800"/>
            <a:ext cx="10607040" cy="548640"/>
          </a:xfrm>
          <a:prstGeom prst="rect">
            <a:avLst/>
          </a:prstGeom>
          <a:noFill/>
        </p:spPr>
        <p:txBody>
          <a:bodyPr wrap="square" lIns="0" rIns="0">
            <a:spAutoFit/>
          </a:bodyPr>
          <a:lstStyle/>
          <a:p>
            <a:pPr algn="l">
              <a:lnSpc>
                <a:spcPct val="115000"/>
              </a:lnSpc>
              <a:spcAft>
                <a:spcPts val="600"/>
              </a:spcAft>
            </a:pPr>
            <a:r>
              <a:rPr sz="1400" b="0">
                <a:solidFill>
                  <a:srgbClr val="101B33"/>
                </a:solidFill>
                <a:latin typeface="Arial"/>
              </a:rPr>
              <a:t>AdaIN thuần thắng FID vì lớp phủ hạt là dấu vết tổng hợp bị Inception phạt.</a:t>
            </a:r>
          </a:p>
        </p:txBody>
      </p:sp>
      <p:sp>
        <p:nvSpPr>
          <p:cNvPr id="44" name="Rectangle 43"/>
          <p:cNvSpPr/>
          <p:nvPr/>
        </p:nvSpPr>
        <p:spPr>
          <a:xfrm>
            <a:off x="640080" y="5815584"/>
            <a:ext cx="100584" cy="100584"/>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5715000"/>
            <a:ext cx="10607040" cy="548640"/>
          </a:xfrm>
          <a:prstGeom prst="rect">
            <a:avLst/>
          </a:prstGeom>
          <a:noFill/>
        </p:spPr>
        <p:txBody>
          <a:bodyPr wrap="square" lIns="0" rIns="0">
            <a:spAutoFit/>
          </a:bodyPr>
          <a:lstStyle/>
          <a:p>
            <a:pPr algn="l">
              <a:lnSpc>
                <a:spcPct val="115000"/>
              </a:lnSpc>
              <a:spcAft>
                <a:spcPts val="600"/>
              </a:spcAft>
            </a:pPr>
            <a:r>
              <a:rPr sz="1400" b="1">
                <a:solidFill>
                  <a:srgbClr val="101B33"/>
                </a:solidFill>
                <a:latin typeface="Arial"/>
              </a:rPr>
              <a:t>Kết luận: với ảnh dashcam nên giảm mật độ hạt — mưa thật qua kính chắn gió gần như không thấy vệt.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292"/>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424160" cy="822960"/>
          </a:xfrm>
          <a:prstGeom prst="rect">
            <a:avLst/>
          </a:prstGeom>
          <a:noFill/>
        </p:spPr>
        <p:txBody>
          <a:bodyPr wrap="square" lIns="0" rIns="0">
            <a:spAutoFit/>
          </a:bodyPr>
          <a:lstStyle/>
          <a:p>
            <a:pPr algn="l">
              <a:lnSpc>
                <a:spcPct val="115000"/>
              </a:lnSpc>
              <a:spcAft>
                <a:spcPts val="600"/>
              </a:spcAft>
            </a:pPr>
            <a:r>
              <a:rPr sz="2700" b="1">
                <a:solidFill>
                  <a:srgbClr val="FFFFFF"/>
                </a:solidFill>
                <a:latin typeface="Arial"/>
              </a:rPr>
              <a:t>Thí nghiệm quyết định: dữ liệu này có thực sự hữu ích?</a:t>
            </a:r>
          </a:p>
          <a:p>
            <a:pPr algn="l">
              <a:lnSpc>
                <a:spcPct val="115000"/>
              </a:lnSpc>
              <a:spcAft>
                <a:spcPts val="600"/>
              </a:spcAft>
            </a:pPr>
            <a:r>
              <a:rPr sz="1300" b="0">
                <a:solidFill>
                  <a:srgbClr val="B6C2D9"/>
                </a:solidFill>
                <a:latin typeface="Arial"/>
              </a:rPr>
              <a:t>YOLOv8n — chỉ khác nhau ở tập huấn luyện</a:t>
            </a:r>
          </a:p>
        </p:txBody>
      </p:sp>
      <p:sp>
        <p:nvSpPr>
          <p:cNvPr id="5" name="TextBox 4"/>
          <p:cNvSpPr txBox="1"/>
          <p:nvPr/>
        </p:nvSpPr>
        <p:spPr>
          <a:xfrm>
            <a:off x="11155680" y="6355080"/>
            <a:ext cx="822960" cy="365760"/>
          </a:xfrm>
          <a:prstGeom prst="rect">
            <a:avLst/>
          </a:prstGeom>
          <a:noFill/>
        </p:spPr>
        <p:txBody>
          <a:bodyPr wrap="square" lIns="0" rIns="0">
            <a:spAutoFit/>
          </a:bodyPr>
          <a:lstStyle/>
          <a:p>
            <a:pPr algn="r">
              <a:lnSpc>
                <a:spcPct val="115000"/>
              </a:lnSpc>
              <a:spcAft>
                <a:spcPts val="600"/>
              </a:spcAft>
            </a:pPr>
            <a:r>
              <a:rPr sz="1100" b="0">
                <a:solidFill>
                  <a:srgbClr val="5A6375"/>
                </a:solidFill>
                <a:latin typeface="Arial"/>
              </a:rPr>
              <a:t>12</a:t>
            </a:r>
          </a:p>
        </p:txBody>
      </p:sp>
      <p:sp>
        <p:nvSpPr>
          <p:cNvPr id="6" name="TextBox 5"/>
          <p:cNvSpPr txBox="1"/>
          <p:nvPr/>
        </p:nvSpPr>
        <p:spPr>
          <a:xfrm>
            <a:off x="640080" y="1234440"/>
            <a:ext cx="10881360" cy="1188720"/>
          </a:xfrm>
          <a:prstGeom prst="rect">
            <a:avLst/>
          </a:prstGeom>
          <a:noFill/>
        </p:spPr>
        <p:txBody>
          <a:bodyPr wrap="square" lIns="0" rIns="0">
            <a:spAutoFit/>
          </a:bodyPr>
          <a:lstStyle/>
          <a:p>
            <a:pPr algn="l">
              <a:lnSpc>
                <a:spcPct val="115000"/>
              </a:lnSpc>
              <a:spcAft>
                <a:spcPts val="600"/>
              </a:spcAft>
            </a:pPr>
            <a:r>
              <a:rPr sz="1500" b="1">
                <a:solidFill>
                  <a:srgbClr val="101B33"/>
                </a:solidFill>
                <a:latin typeface="Arial"/>
              </a:rPr>
              <a:t>A. Baseline: ảnh trời quang   ·   B. Baseline-long: cùng ảnh đó, gấp đôi epoch   ·   C. Augmented: ảnh trời quang + ảnh sinh ra</a:t>
            </a:r>
          </a:p>
          <a:p>
            <a:pPr algn="l">
              <a:lnSpc>
                <a:spcPct val="115000"/>
              </a:lnSpc>
              <a:spcAft>
                <a:spcPts val="600"/>
              </a:spcAft>
            </a:pPr>
            <a:r>
              <a:rPr sz="1300" b="0">
                <a:solidFill>
                  <a:srgbClr val="5A6375"/>
                </a:solidFill>
                <a:latin typeface="Arial"/>
              </a:rPr>
              <a:t>Nhánh B có ĐÚNG số bước cập nhật như C nhưng không có dữ liệu mới ⇒ so sánh công bằng là C − B. Cả hai đánh giá trên cùng tập test: ảnh mưa/tuyết THẬT của BDD100K, chưa từng dùng ở bất kỳ khâu nào khác.</a:t>
            </a:r>
          </a:p>
        </p:txBody>
      </p:sp>
      <p:sp>
        <p:nvSpPr>
          <p:cNvPr id="7" name="Rectangle 6"/>
          <p:cNvSpPr/>
          <p:nvPr/>
        </p:nvSpPr>
        <p:spPr>
          <a:xfrm>
            <a:off x="640080" y="2606040"/>
            <a:ext cx="10881360" cy="45720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670048"/>
            <a:ext cx="3348110" cy="457200"/>
          </a:xfrm>
          <a:prstGeom prst="rect">
            <a:avLst/>
          </a:prstGeom>
          <a:noFill/>
        </p:spPr>
        <p:txBody>
          <a:bodyPr wrap="square" lIns="0" rIns="0">
            <a:spAutoFit/>
          </a:bodyPr>
          <a:lstStyle/>
          <a:p>
            <a:pPr algn="l">
              <a:lnSpc>
                <a:spcPct val="115000"/>
              </a:lnSpc>
              <a:spcAft>
                <a:spcPts val="600"/>
              </a:spcAft>
            </a:pPr>
            <a:r>
              <a:rPr sz="1200" b="1">
                <a:solidFill>
                  <a:srgbClr val="FFFFFF"/>
                </a:solidFill>
                <a:latin typeface="Arial"/>
              </a:rPr>
              <a:t>Tập kiểm tra</a:t>
            </a:r>
          </a:p>
        </p:txBody>
      </p:sp>
      <p:sp>
        <p:nvSpPr>
          <p:cNvPr id="9" name="TextBox 8"/>
          <p:cNvSpPr txBox="1"/>
          <p:nvPr/>
        </p:nvSpPr>
        <p:spPr>
          <a:xfrm>
            <a:off x="4097918" y="2670048"/>
            <a:ext cx="1767058" cy="457200"/>
          </a:xfrm>
          <a:prstGeom prst="rect">
            <a:avLst/>
          </a:prstGeom>
          <a:noFill/>
        </p:spPr>
        <p:txBody>
          <a:bodyPr wrap="square" lIns="0" rIns="0">
            <a:spAutoFit/>
          </a:bodyPr>
          <a:lstStyle/>
          <a:p>
            <a:pPr algn="l">
              <a:lnSpc>
                <a:spcPct val="115000"/>
              </a:lnSpc>
              <a:spcAft>
                <a:spcPts val="600"/>
              </a:spcAft>
            </a:pPr>
            <a:r>
              <a:rPr sz="1200" b="1">
                <a:solidFill>
                  <a:srgbClr val="FFFFFF"/>
                </a:solidFill>
                <a:latin typeface="Arial"/>
              </a:rPr>
              <a:t>A. Baseline</a:t>
            </a:r>
          </a:p>
        </p:txBody>
      </p:sp>
      <p:sp>
        <p:nvSpPr>
          <p:cNvPr id="10" name="TextBox 9"/>
          <p:cNvSpPr txBox="1"/>
          <p:nvPr/>
        </p:nvSpPr>
        <p:spPr>
          <a:xfrm>
            <a:off x="5864976" y="2670048"/>
            <a:ext cx="1767058" cy="457200"/>
          </a:xfrm>
          <a:prstGeom prst="rect">
            <a:avLst/>
          </a:prstGeom>
          <a:noFill/>
        </p:spPr>
        <p:txBody>
          <a:bodyPr wrap="square" lIns="0" rIns="0">
            <a:spAutoFit/>
          </a:bodyPr>
          <a:lstStyle/>
          <a:p>
            <a:pPr algn="l">
              <a:lnSpc>
                <a:spcPct val="115000"/>
              </a:lnSpc>
              <a:spcAft>
                <a:spcPts val="600"/>
              </a:spcAft>
            </a:pPr>
            <a:r>
              <a:rPr sz="1200" b="1">
                <a:solidFill>
                  <a:srgbClr val="FFFFFF"/>
                </a:solidFill>
                <a:latin typeface="Arial"/>
              </a:rPr>
              <a:t>B. Baseline-long</a:t>
            </a:r>
          </a:p>
        </p:txBody>
      </p:sp>
      <p:sp>
        <p:nvSpPr>
          <p:cNvPr id="11" name="TextBox 10"/>
          <p:cNvSpPr txBox="1"/>
          <p:nvPr/>
        </p:nvSpPr>
        <p:spPr>
          <a:xfrm>
            <a:off x="7632034" y="2670048"/>
            <a:ext cx="1767058" cy="457200"/>
          </a:xfrm>
          <a:prstGeom prst="rect">
            <a:avLst/>
          </a:prstGeom>
          <a:noFill/>
        </p:spPr>
        <p:txBody>
          <a:bodyPr wrap="square" lIns="0" rIns="0">
            <a:spAutoFit/>
          </a:bodyPr>
          <a:lstStyle/>
          <a:p>
            <a:pPr algn="l">
              <a:lnSpc>
                <a:spcPct val="115000"/>
              </a:lnSpc>
              <a:spcAft>
                <a:spcPts val="600"/>
              </a:spcAft>
            </a:pPr>
            <a:r>
              <a:rPr sz="1200" b="1">
                <a:solidFill>
                  <a:srgbClr val="FFFFFF"/>
                </a:solidFill>
                <a:latin typeface="Arial"/>
              </a:rPr>
              <a:t>C. + Tăng cường</a:t>
            </a:r>
          </a:p>
        </p:txBody>
      </p:sp>
      <p:sp>
        <p:nvSpPr>
          <p:cNvPr id="12" name="TextBox 11"/>
          <p:cNvSpPr txBox="1"/>
          <p:nvPr/>
        </p:nvSpPr>
        <p:spPr>
          <a:xfrm>
            <a:off x="9399092" y="2670048"/>
            <a:ext cx="2232073" cy="457200"/>
          </a:xfrm>
          <a:prstGeom prst="rect">
            <a:avLst/>
          </a:prstGeom>
          <a:noFill/>
        </p:spPr>
        <p:txBody>
          <a:bodyPr wrap="square" lIns="0" rIns="0">
            <a:spAutoFit/>
          </a:bodyPr>
          <a:lstStyle/>
          <a:p>
            <a:pPr algn="l">
              <a:lnSpc>
                <a:spcPct val="115000"/>
              </a:lnSpc>
              <a:spcAft>
                <a:spcPts val="600"/>
              </a:spcAft>
            </a:pPr>
            <a:r>
              <a:rPr sz="1200" b="1">
                <a:solidFill>
                  <a:srgbClr val="FFFFFF"/>
                </a:solidFill>
                <a:latin typeface="Arial"/>
              </a:rPr>
              <a:t>C − B</a:t>
            </a:r>
          </a:p>
        </p:txBody>
      </p:sp>
      <p:sp>
        <p:nvSpPr>
          <p:cNvPr id="13" name="Rectangle 12"/>
          <p:cNvSpPr/>
          <p:nvPr/>
        </p:nvSpPr>
        <p:spPr>
          <a:xfrm>
            <a:off x="640080" y="3063240"/>
            <a:ext cx="10881360" cy="4572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127248"/>
            <a:ext cx="3348110"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Thời tiết xấu THẬT · mAP50</a:t>
            </a:r>
          </a:p>
        </p:txBody>
      </p:sp>
      <p:sp>
        <p:nvSpPr>
          <p:cNvPr id="15" name="TextBox 14"/>
          <p:cNvSpPr txBox="1"/>
          <p:nvPr/>
        </p:nvSpPr>
        <p:spPr>
          <a:xfrm>
            <a:off x="4097918" y="3127248"/>
            <a:ext cx="1767058"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0.2363</a:t>
            </a:r>
          </a:p>
        </p:txBody>
      </p:sp>
      <p:sp>
        <p:nvSpPr>
          <p:cNvPr id="16" name="TextBox 15"/>
          <p:cNvSpPr txBox="1"/>
          <p:nvPr/>
        </p:nvSpPr>
        <p:spPr>
          <a:xfrm>
            <a:off x="5864976" y="3127248"/>
            <a:ext cx="1767058"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0.2451</a:t>
            </a:r>
          </a:p>
        </p:txBody>
      </p:sp>
      <p:sp>
        <p:nvSpPr>
          <p:cNvPr id="17" name="TextBox 16"/>
          <p:cNvSpPr txBox="1"/>
          <p:nvPr/>
        </p:nvSpPr>
        <p:spPr>
          <a:xfrm>
            <a:off x="7632034" y="3127248"/>
            <a:ext cx="1767058"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0.2603</a:t>
            </a:r>
          </a:p>
        </p:txBody>
      </p:sp>
      <p:sp>
        <p:nvSpPr>
          <p:cNvPr id="18" name="TextBox 17"/>
          <p:cNvSpPr txBox="1"/>
          <p:nvPr/>
        </p:nvSpPr>
        <p:spPr>
          <a:xfrm>
            <a:off x="9399092" y="3127248"/>
            <a:ext cx="2232073"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+0.0153 (+6.2%)</a:t>
            </a:r>
          </a:p>
        </p:txBody>
      </p:sp>
      <p:sp>
        <p:nvSpPr>
          <p:cNvPr id="19" name="Rectangle 18"/>
          <p:cNvSpPr/>
          <p:nvPr/>
        </p:nvSpPr>
        <p:spPr>
          <a:xfrm>
            <a:off x="640080" y="3520440"/>
            <a:ext cx="108813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584448"/>
            <a:ext cx="3348110"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Thời tiết xấu THẬT · mAP50-95</a:t>
            </a:r>
          </a:p>
        </p:txBody>
      </p:sp>
      <p:sp>
        <p:nvSpPr>
          <p:cNvPr id="21" name="TextBox 20"/>
          <p:cNvSpPr txBox="1"/>
          <p:nvPr/>
        </p:nvSpPr>
        <p:spPr>
          <a:xfrm>
            <a:off x="4097918" y="3584448"/>
            <a:ext cx="1767058"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0.1299</a:t>
            </a:r>
          </a:p>
        </p:txBody>
      </p:sp>
      <p:sp>
        <p:nvSpPr>
          <p:cNvPr id="22" name="TextBox 21"/>
          <p:cNvSpPr txBox="1"/>
          <p:nvPr/>
        </p:nvSpPr>
        <p:spPr>
          <a:xfrm>
            <a:off x="5864976" y="3584448"/>
            <a:ext cx="1767058"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0.1339</a:t>
            </a:r>
          </a:p>
        </p:txBody>
      </p:sp>
      <p:sp>
        <p:nvSpPr>
          <p:cNvPr id="23" name="TextBox 22"/>
          <p:cNvSpPr txBox="1"/>
          <p:nvPr/>
        </p:nvSpPr>
        <p:spPr>
          <a:xfrm>
            <a:off x="7632034" y="3584448"/>
            <a:ext cx="1767058"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0.1411</a:t>
            </a:r>
          </a:p>
        </p:txBody>
      </p:sp>
      <p:sp>
        <p:nvSpPr>
          <p:cNvPr id="24" name="TextBox 23"/>
          <p:cNvSpPr txBox="1"/>
          <p:nvPr/>
        </p:nvSpPr>
        <p:spPr>
          <a:xfrm>
            <a:off x="9399092" y="3584448"/>
            <a:ext cx="2232073"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+0.0072 (+5.3%)</a:t>
            </a:r>
          </a:p>
        </p:txBody>
      </p:sp>
      <p:sp>
        <p:nvSpPr>
          <p:cNvPr id="25" name="Rectangle 24"/>
          <p:cNvSpPr/>
          <p:nvPr/>
        </p:nvSpPr>
        <p:spPr>
          <a:xfrm>
            <a:off x="640080" y="3977640"/>
            <a:ext cx="10881360" cy="4572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041648"/>
            <a:ext cx="3348110"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Trời quang (đối chứng) · mAP50</a:t>
            </a:r>
          </a:p>
        </p:txBody>
      </p:sp>
      <p:sp>
        <p:nvSpPr>
          <p:cNvPr id="27" name="TextBox 26"/>
          <p:cNvSpPr txBox="1"/>
          <p:nvPr/>
        </p:nvSpPr>
        <p:spPr>
          <a:xfrm>
            <a:off x="4097918" y="4041648"/>
            <a:ext cx="1767058"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0.3028</a:t>
            </a:r>
          </a:p>
        </p:txBody>
      </p:sp>
      <p:sp>
        <p:nvSpPr>
          <p:cNvPr id="28" name="TextBox 27"/>
          <p:cNvSpPr txBox="1"/>
          <p:nvPr/>
        </p:nvSpPr>
        <p:spPr>
          <a:xfrm>
            <a:off x="5864976" y="4041648"/>
            <a:ext cx="1767058"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0.3204</a:t>
            </a:r>
          </a:p>
        </p:txBody>
      </p:sp>
      <p:sp>
        <p:nvSpPr>
          <p:cNvPr id="29" name="TextBox 28"/>
          <p:cNvSpPr txBox="1"/>
          <p:nvPr/>
        </p:nvSpPr>
        <p:spPr>
          <a:xfrm>
            <a:off x="7632034" y="4041648"/>
            <a:ext cx="1767058"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0.3349</a:t>
            </a:r>
          </a:p>
        </p:txBody>
      </p:sp>
      <p:sp>
        <p:nvSpPr>
          <p:cNvPr id="30" name="TextBox 29"/>
          <p:cNvSpPr txBox="1"/>
          <p:nvPr/>
        </p:nvSpPr>
        <p:spPr>
          <a:xfrm>
            <a:off x="9399092" y="4041648"/>
            <a:ext cx="2232073"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+0.0145 (+4.5%)</a:t>
            </a:r>
          </a:p>
        </p:txBody>
      </p:sp>
      <p:sp>
        <p:nvSpPr>
          <p:cNvPr id="31" name="Rectangle 30"/>
          <p:cNvSpPr/>
          <p:nvPr/>
        </p:nvSpPr>
        <p:spPr>
          <a:xfrm>
            <a:off x="640080" y="4434840"/>
            <a:ext cx="108813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498848"/>
            <a:ext cx="3348110"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Trời quang (đối chứng) · mAP50-95</a:t>
            </a:r>
          </a:p>
        </p:txBody>
      </p:sp>
      <p:sp>
        <p:nvSpPr>
          <p:cNvPr id="33" name="TextBox 32"/>
          <p:cNvSpPr txBox="1"/>
          <p:nvPr/>
        </p:nvSpPr>
        <p:spPr>
          <a:xfrm>
            <a:off x="4097918" y="4498848"/>
            <a:ext cx="1767058"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0.1727</a:t>
            </a:r>
          </a:p>
        </p:txBody>
      </p:sp>
      <p:sp>
        <p:nvSpPr>
          <p:cNvPr id="34" name="TextBox 33"/>
          <p:cNvSpPr txBox="1"/>
          <p:nvPr/>
        </p:nvSpPr>
        <p:spPr>
          <a:xfrm>
            <a:off x="5864976" y="4498848"/>
            <a:ext cx="1767058"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0.1797</a:t>
            </a:r>
          </a:p>
        </p:txBody>
      </p:sp>
      <p:sp>
        <p:nvSpPr>
          <p:cNvPr id="35" name="TextBox 34"/>
          <p:cNvSpPr txBox="1"/>
          <p:nvPr/>
        </p:nvSpPr>
        <p:spPr>
          <a:xfrm>
            <a:off x="7632034" y="4498848"/>
            <a:ext cx="1767058"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0.1877</a:t>
            </a:r>
          </a:p>
        </p:txBody>
      </p:sp>
      <p:sp>
        <p:nvSpPr>
          <p:cNvPr id="36" name="TextBox 35"/>
          <p:cNvSpPr txBox="1"/>
          <p:nvPr/>
        </p:nvSpPr>
        <p:spPr>
          <a:xfrm>
            <a:off x="9399092" y="4498848"/>
            <a:ext cx="2232073" cy="457200"/>
          </a:xfrm>
          <a:prstGeom prst="rect">
            <a:avLst/>
          </a:prstGeom>
          <a:noFill/>
        </p:spPr>
        <p:txBody>
          <a:bodyPr wrap="square" lIns="0" rIns="0">
            <a:spAutoFit/>
          </a:bodyPr>
          <a:lstStyle/>
          <a:p>
            <a:pPr algn="l">
              <a:lnSpc>
                <a:spcPct val="115000"/>
              </a:lnSpc>
              <a:spcAft>
                <a:spcPts val="600"/>
              </a:spcAft>
            </a:pPr>
            <a:r>
              <a:rPr sz="1200" b="0">
                <a:solidFill>
                  <a:srgbClr val="101B33"/>
                </a:solidFill>
                <a:latin typeface="Arial"/>
              </a:rPr>
              <a:t>+0.0080 (+4.5%)</a:t>
            </a:r>
          </a:p>
        </p:txBody>
      </p:sp>
      <p:sp>
        <p:nvSpPr>
          <p:cNvPr id="37" name="TextBox 36"/>
          <p:cNvSpPr txBox="1"/>
          <p:nvPr/>
        </p:nvSpPr>
        <p:spPr>
          <a:xfrm>
            <a:off x="640080" y="5760720"/>
            <a:ext cx="10881360" cy="822960"/>
          </a:xfrm>
          <a:prstGeom prst="rect">
            <a:avLst/>
          </a:prstGeom>
          <a:noFill/>
        </p:spPr>
        <p:txBody>
          <a:bodyPr wrap="square" lIns="0" rIns="0">
            <a:spAutoFit/>
          </a:bodyPr>
          <a:lstStyle/>
          <a:p>
            <a:pPr algn="l">
              <a:lnSpc>
                <a:spcPct val="115000"/>
              </a:lnSpc>
              <a:spcAft>
                <a:spcPts val="600"/>
              </a:spcAft>
            </a:pPr>
            <a:r>
              <a:rPr sz="1400" b="0">
                <a:solidFill>
                  <a:srgbClr val="5A6375"/>
                </a:solidFill>
                <a:latin typeface="Arial"/>
              </a:rPr>
              <a:t>Hàng 'trời quang' là đối chứng: xác nhận việc thêm dữ liệu tăng cường không làm mô hình kém đi trên điều kiện bình thường.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292"/>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
            <a:ext cx="10424160" cy="822960"/>
          </a:xfrm>
          <a:prstGeom prst="rect">
            <a:avLst/>
          </a:prstGeom>
          <a:noFill/>
        </p:spPr>
        <p:txBody>
          <a:bodyPr wrap="square" lIns="0" rIns="0">
            <a:spAutoFit/>
          </a:bodyPr>
          <a:lstStyle/>
          <a:p>
            <a:pPr algn="l">
              <a:lnSpc>
                <a:spcPct val="115000"/>
              </a:lnSpc>
              <a:spcAft>
                <a:spcPts val="600"/>
              </a:spcAft>
            </a:pPr>
            <a:r>
              <a:rPr sz="2700" b="1">
                <a:solidFill>
                  <a:srgbClr val="FFFFFF"/>
                </a:solidFill>
                <a:latin typeface="Arial"/>
              </a:rPr>
              <a:t>Hạn chế &amp; hướng phát triển</a:t>
            </a:r>
          </a:p>
        </p:txBody>
      </p:sp>
      <p:sp>
        <p:nvSpPr>
          <p:cNvPr id="5" name="TextBox 4"/>
          <p:cNvSpPr txBox="1"/>
          <p:nvPr/>
        </p:nvSpPr>
        <p:spPr>
          <a:xfrm>
            <a:off x="11155680" y="6355080"/>
            <a:ext cx="822960" cy="365760"/>
          </a:xfrm>
          <a:prstGeom prst="rect">
            <a:avLst/>
          </a:prstGeom>
          <a:noFill/>
        </p:spPr>
        <p:txBody>
          <a:bodyPr wrap="square" lIns="0" rIns="0">
            <a:spAutoFit/>
          </a:bodyPr>
          <a:lstStyle/>
          <a:p>
            <a:pPr algn="r">
              <a:lnSpc>
                <a:spcPct val="115000"/>
              </a:lnSpc>
              <a:spcAft>
                <a:spcPts val="600"/>
              </a:spcAft>
            </a:pPr>
            <a:r>
              <a:rPr sz="1100" b="0">
                <a:solidFill>
                  <a:srgbClr val="5A6375"/>
                </a:solidFill>
                <a:latin typeface="Arial"/>
              </a:rPr>
              <a:t>13</a:t>
            </a:r>
          </a:p>
        </p:txBody>
      </p:sp>
      <p:sp>
        <p:nvSpPr>
          <p:cNvPr id="6" name="Rectangle 5"/>
          <p:cNvSpPr/>
          <p:nvPr/>
        </p:nvSpPr>
        <p:spPr>
          <a:xfrm>
            <a:off x="640080" y="1371600"/>
            <a:ext cx="5349240" cy="448056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371600"/>
            <a:ext cx="64008" cy="4480560"/>
          </a:xfrm>
          <a:prstGeom prst="rect">
            <a:avLst/>
          </a:prstGeom>
          <a:solidFill>
            <a:srgbClr val="E4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36192"/>
            <a:ext cx="4892040" cy="4480560"/>
          </a:xfrm>
          <a:prstGeom prst="rect">
            <a:avLst/>
          </a:prstGeom>
          <a:noFill/>
        </p:spPr>
        <p:txBody>
          <a:bodyPr wrap="square" lIns="0" rIns="0">
            <a:spAutoFit/>
          </a:bodyPr>
          <a:lstStyle/>
          <a:p>
            <a:pPr algn="l">
              <a:lnSpc>
                <a:spcPct val="115000"/>
              </a:lnSpc>
              <a:spcAft>
                <a:spcPts val="600"/>
              </a:spcAft>
            </a:pPr>
            <a:r>
              <a:rPr sz="1600" b="1">
                <a:solidFill>
                  <a:srgbClr val="101B33"/>
                </a:solidFill>
                <a:latin typeface="Arial"/>
              </a:rPr>
              <a:t>HẠN CHẾ</a:t>
            </a:r>
          </a:p>
          <a:p>
            <a:pPr algn="l">
              <a:lnSpc>
                <a:spcPct val="115000"/>
              </a:lnSpc>
              <a:spcAft>
                <a:spcPts val="600"/>
              </a:spcAft>
            </a:pPr>
            <a:r>
              <a:rPr sz="1300" b="0">
                <a:solidFill>
                  <a:srgbClr val="5A6375"/>
                </a:solidFill>
                <a:latin typeface="Arial"/>
              </a:rPr>
              <a:t>
· AdaIN chuyển thống kê TOÀN CỤC nên chưa phân biệt vùng trời / mặt đường — sương mù dày ở gần cũng như ở xa.
· Không có bản đồ độ sâu thật; module vật lý dùng giả thiết mặt đường phẳng.
· Chất lượng phụ thuộc ảnh tham chiếu: ảnh tham chiếu khác góc chụp quá nhiều sẽ cho tông màu lệch.
· DAWN chỉ được dùng cho mục đích nghiên cứu, không dùng thương mại.</a:t>
            </a:r>
          </a:p>
        </p:txBody>
      </p:sp>
      <p:sp>
        <p:nvSpPr>
          <p:cNvPr id="9" name="Rectangle 8"/>
          <p:cNvSpPr/>
          <p:nvPr/>
        </p:nvSpPr>
        <p:spPr>
          <a:xfrm>
            <a:off x="6355080" y="1371600"/>
            <a:ext cx="5349240" cy="448056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371600"/>
            <a:ext cx="64008" cy="4480560"/>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11112" y="1536192"/>
            <a:ext cx="4892040" cy="4480560"/>
          </a:xfrm>
          <a:prstGeom prst="rect">
            <a:avLst/>
          </a:prstGeom>
          <a:noFill/>
        </p:spPr>
        <p:txBody>
          <a:bodyPr wrap="square" lIns="0" rIns="0">
            <a:spAutoFit/>
          </a:bodyPr>
          <a:lstStyle/>
          <a:p>
            <a:pPr algn="l">
              <a:lnSpc>
                <a:spcPct val="115000"/>
              </a:lnSpc>
              <a:spcAft>
                <a:spcPts val="600"/>
              </a:spcAft>
            </a:pPr>
            <a:r>
              <a:rPr sz="1600" b="1">
                <a:solidFill>
                  <a:srgbClr val="101B33"/>
                </a:solidFill>
                <a:latin typeface="Arial"/>
              </a:rPr>
              <a:t>HƯỚNG PHÁT TRIỂN</a:t>
            </a:r>
          </a:p>
          <a:p>
            <a:pPr algn="l">
              <a:lnSpc>
                <a:spcPct val="115000"/>
              </a:lnSpc>
              <a:spcAft>
                <a:spcPts val="600"/>
              </a:spcAft>
            </a:pPr>
            <a:r>
              <a:rPr sz="1300" b="0">
                <a:solidFill>
                  <a:srgbClr val="5A6375"/>
                </a:solidFill>
                <a:latin typeface="Arial"/>
              </a:rPr>
              <a:t>
· Thêm mặt nạ phân vùng trời / đường để đổi tông theo từng vùng.
· Dùng mô hình ước lượng độ sâu đơn ảnh (Depth Anything) thay cho giả thiết phẳng.
· Thay AdaIN bằng AdaAttN / WCT² để bám cấu trúc tốt hơn.
· Thu thập ảnh tham chiếu thời tiết tại Việt Nam để khớp bối cảnh triển khai thực tế.
· Mở rộng sang ban đêm, chói nắng ngược, đèn pha.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371600"/>
            <a:ext cx="73152" cy="4206240"/>
          </a:xfrm>
          <a:prstGeom prst="rect">
            <a:avLst/>
          </a:prstGeom>
          <a:solidFill>
            <a:srgbClr val="18A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371600"/>
            <a:ext cx="10058400" cy="4389120"/>
          </a:xfrm>
          <a:prstGeom prst="rect">
            <a:avLst/>
          </a:prstGeom>
          <a:noFill/>
        </p:spPr>
        <p:txBody>
          <a:bodyPr wrap="square" lIns="0" rIns="0">
            <a:spAutoFit/>
          </a:bodyPr>
          <a:lstStyle/>
          <a:p>
            <a:pPr algn="l">
              <a:lnSpc>
                <a:spcPct val="115000"/>
              </a:lnSpc>
              <a:spcAft>
                <a:spcPts val="600"/>
              </a:spcAft>
            </a:pPr>
            <a:r>
              <a:rPr sz="3400" b="1">
                <a:solidFill>
                  <a:srgbClr val="FFFFFF"/>
                </a:solidFill>
                <a:latin typeface="Arial"/>
              </a:rPr>
              <a:t>KẾT LUẬN</a:t>
            </a:r>
          </a:p>
          <a:p>
            <a:pPr algn="l">
              <a:lnSpc>
                <a:spcPct val="115000"/>
              </a:lnSpc>
              <a:spcAft>
                <a:spcPts val="600"/>
              </a:spcAft>
            </a:pPr>
            <a:r>
              <a:rPr sz="1000" b="0">
                <a:solidFill>
                  <a:srgbClr val="FFFFFF"/>
                </a:solidFill>
                <a:latin typeface="Arial"/>
              </a:rPr>
              <a:t/>
            </a:r>
          </a:p>
          <a:p>
            <a:pPr algn="l">
              <a:lnSpc>
                <a:spcPct val="115000"/>
              </a:lnSpc>
              <a:spcAft>
                <a:spcPts val="600"/>
              </a:spcAft>
            </a:pPr>
            <a:r>
              <a:rPr sz="1800" b="0">
                <a:solidFill>
                  <a:srgbClr val="D5DEEC"/>
                </a:solidFill>
                <a:latin typeface="Arial"/>
              </a:rPr>
              <a:t>· Xây dựng trọn vẹn pipeline sinh ảnh giao thông thời tiết xấu từ 2 ảnh đầu vào, đúng yêu cầu đề bài.</a:t>
            </a:r>
          </a:p>
          <a:p>
            <a:pPr algn="l">
              <a:lnSpc>
                <a:spcPct val="115000"/>
              </a:lnSpc>
              <a:spcAft>
                <a:spcPts val="600"/>
              </a:spcAft>
            </a:pPr>
            <a:r>
              <a:rPr sz="1800" b="0">
                <a:solidFill>
                  <a:srgbClr val="D5DEEC"/>
                </a:solidFill>
                <a:latin typeface="Arial"/>
              </a:rPr>
              <a:t>· Toàn bộ dùng mã nguồn mở; decoder chỉ 3,51 M tham số, huấn luyện 37 phút trên 1 GPU.</a:t>
            </a:r>
          </a:p>
          <a:p>
            <a:pPr algn="l">
              <a:lnSpc>
                <a:spcPct val="115000"/>
              </a:lnSpc>
              <a:spcAft>
                <a:spcPts val="600"/>
              </a:spcAft>
            </a:pPr>
            <a:r>
              <a:rPr sz="1800" b="0">
                <a:solidFill>
                  <a:srgbClr val="D5DEEC"/>
                </a:solidFill>
                <a:latin typeface="Arial"/>
              </a:rPr>
              <a:t>· Nhãn bounding box tái sử dụng 100% — chi phí gán nhãn cho dữ liệu mới bằng 0.</a:t>
            </a:r>
          </a:p>
          <a:p>
            <a:pPr algn="l">
              <a:lnSpc>
                <a:spcPct val="115000"/>
              </a:lnSpc>
              <a:spcAft>
                <a:spcPts val="600"/>
              </a:spcAft>
            </a:pPr>
            <a:r>
              <a:rPr sz="1800" b="0">
                <a:solidFill>
                  <a:srgbClr val="D5DEEC"/>
                </a:solidFill>
                <a:latin typeface="Arial"/>
              </a:rPr>
              <a:t>· Có kiểm chứng định lượng (SSIM/EdgeRecall/FID) và thí nghiệm downstream với YOLOv8.</a:t>
            </a:r>
          </a:p>
          <a:p>
            <a:pPr algn="l">
              <a:lnSpc>
                <a:spcPct val="115000"/>
              </a:lnSpc>
              <a:spcAft>
                <a:spcPts val="600"/>
              </a:spcAft>
            </a:pPr>
            <a:r>
              <a:rPr sz="1800" b="0">
                <a:solidFill>
                  <a:srgbClr val="D5DEEC"/>
                </a:solidFill>
                <a:latin typeface="Arial"/>
              </a:rPr>
              <a:t>· Bàn giao: mã nguồn chạy được bằng 1 lệnh, web demo Gradio, mô hình đã huấn luyện,</a:t>
            </a:r>
          </a:p>
          <a:p>
            <a:pPr algn="l">
              <a:lnSpc>
                <a:spcPct val="115000"/>
              </a:lnSpc>
              <a:spcAft>
                <a:spcPts val="600"/>
              </a:spcAft>
            </a:pPr>
            <a:r>
              <a:rPr sz="1800" b="0">
                <a:solidFill>
                  <a:srgbClr val="D5DEEC"/>
                </a:solidFill>
                <a:latin typeface="Arial"/>
              </a:rPr>
              <a:t>   báo cáo và slide — toàn bộ số liệu sinh tự động từ kết quả thật.</a:t>
            </a:r>
          </a:p>
          <a:p>
            <a:pPr algn="l">
              <a:lnSpc>
                <a:spcPct val="115000"/>
              </a:lnSpc>
              <a:spcAft>
                <a:spcPts val="600"/>
              </a:spcAft>
            </a:pPr>
            <a:r>
              <a:rPr sz="1000" b="0">
                <a:solidFill>
                  <a:srgbClr val="FFFFFF"/>
                </a:solidFill>
                <a:latin typeface="Arial"/>
              </a:rPr>
              <a:t/>
            </a:r>
          </a:p>
          <a:p>
            <a:pPr algn="l">
              <a:lnSpc>
                <a:spcPct val="115000"/>
              </a:lnSpc>
              <a:spcAft>
                <a:spcPts val="600"/>
              </a:spcAft>
            </a:pPr>
            <a:r>
              <a:rPr sz="2400" b="1">
                <a:solidFill>
                  <a:srgbClr val="18A099"/>
                </a:solidFill>
                <a:latin typeface="Arial"/>
              </a:rPr>
              <a:t>Nhóm 6  —  Xin cảm 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