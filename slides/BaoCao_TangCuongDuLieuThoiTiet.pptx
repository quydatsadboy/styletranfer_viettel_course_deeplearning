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698480" cy="2011680"/>
          </a:xfrm>
          <a:prstGeom prst="rect">
            <a:avLst/>
          </a:prstGeom>
          <a:noFill/>
        </p:spPr>
        <p:txBody>
          <a:bodyPr wrap="square" lIns="0" rIns="0">
            <a:spAutoFit/>
          </a:bodyPr>
          <a:lstStyle/>
          <a:p>
            <a:pPr algn="l">
              <a:lnSpc>
                <a:spcPct val="115000"/>
              </a:lnSpc>
              <a:spcAft>
                <a:spcPts val="600"/>
              </a:spcAft>
            </a:pPr>
            <a:r>
              <a:rPr sz="3300" b="1">
                <a:solidFill>
                  <a:srgbClr val="FFFFFF"/>
                </a:solidFill>
                <a:latin typeface="Arial"/>
              </a:rPr>
              <a:t>TĂNG CƯỜNG DỮ LIỆU ẢNH GIAO THÔNG</a:t>
            </a:r>
          </a:p>
          <a:p>
            <a:pPr algn="l">
              <a:lnSpc>
                <a:spcPct val="115000"/>
              </a:lnSpc>
              <a:spcAft>
                <a:spcPts val="600"/>
              </a:spcAft>
            </a:pPr>
            <a:r>
              <a:rPr sz="3300" b="1">
                <a:solidFill>
                  <a:srgbClr val="18A099"/>
                </a:solidFill>
                <a:latin typeface="Arial"/>
              </a:rPr>
              <a:t>BẰNG CHUYỂN PHONG CÁCH THỜI TIẾT</a:t>
            </a:r>
          </a:p>
        </p:txBody>
      </p:sp>
      <p:sp>
        <p:nvSpPr>
          <p:cNvPr id="5" name="TextBox 4"/>
          <p:cNvSpPr txBox="1"/>
          <p:nvPr/>
        </p:nvSpPr>
        <p:spPr>
          <a:xfrm>
            <a:off x="822960" y="4224528"/>
            <a:ext cx="10698480" cy="914400"/>
          </a:xfrm>
          <a:prstGeom prst="rect">
            <a:avLst/>
          </a:prstGeom>
          <a:noFill/>
        </p:spPr>
        <p:txBody>
          <a:bodyPr wrap="square" lIns="0" rIns="0">
            <a:spAutoFit/>
          </a:bodyPr>
          <a:lstStyle/>
          <a:p>
            <a:pPr algn="l">
              <a:lnSpc>
                <a:spcPct val="115000"/>
              </a:lnSpc>
              <a:spcAft>
                <a:spcPts val="600"/>
              </a:spcAft>
            </a:pPr>
            <a:r>
              <a:rPr sz="1600" b="0">
                <a:solidFill>
                  <a:srgbClr val="C8D2E4"/>
                </a:solidFill>
                <a:latin typeface="Arial"/>
              </a:rPr>
              <a:t>Đầu vào: 1 ảnh giao thông trời quang  +  1 ảnh tham chiếu thời tiết</a:t>
            </a:r>
          </a:p>
          <a:p>
            <a:pPr algn="l">
              <a:lnSpc>
                <a:spcPct val="115000"/>
              </a:lnSpc>
              <a:spcAft>
                <a:spcPts val="600"/>
              </a:spcAft>
            </a:pPr>
            <a:r>
              <a:rPr sz="1600" b="0">
                <a:solidFill>
                  <a:srgbClr val="C8D2E4"/>
                </a:solidFill>
                <a:latin typeface="Arial"/>
              </a:rPr>
              <a:t>Đầu ra: ảnh giao thông dưới thời tiết xấu — giữ nguyên nhãn bounding box</a:t>
            </a:r>
          </a:p>
        </p:txBody>
      </p:sp>
      <p:sp>
        <p:nvSpPr>
          <p:cNvPr id="6" name="Rectangle 5"/>
          <p:cNvSpPr/>
          <p:nvPr/>
        </p:nvSpPr>
        <p:spPr>
          <a:xfrm>
            <a:off x="822960" y="5440680"/>
            <a:ext cx="54864" cy="9144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413248"/>
            <a:ext cx="10424160" cy="1005840"/>
          </a:xfrm>
          <a:prstGeom prst="rect">
            <a:avLst/>
          </a:prstGeom>
          <a:noFill/>
        </p:spPr>
        <p:txBody>
          <a:bodyPr wrap="square" lIns="0" rIns="0">
            <a:spAutoFit/>
          </a:bodyPr>
          <a:lstStyle/>
          <a:p>
            <a:pPr algn="l">
              <a:lnSpc>
                <a:spcPct val="115000"/>
              </a:lnSpc>
              <a:spcAft>
                <a:spcPts val="600"/>
              </a:spcAft>
            </a:pPr>
            <a:r>
              <a:rPr sz="1500" b="1">
                <a:solidFill>
                  <a:srgbClr val="18A099"/>
                </a:solidFill>
                <a:latin typeface="Arial"/>
              </a:rPr>
              <a:t>NHÓM 6  ·  Bài tập cuối khoá — Deep Learning Ứng dụng</a:t>
            </a:r>
          </a:p>
          <a:p>
            <a:pPr algn="l">
              <a:lnSpc>
                <a:spcPct val="115000"/>
              </a:lnSpc>
              <a:spcAft>
                <a:spcPts val="600"/>
              </a:spcAft>
            </a:pPr>
            <a:r>
              <a:rPr sz="1400" b="0">
                <a:solidFill>
                  <a:srgbClr val="C8D2E4"/>
                </a:solidFill>
                <a:latin typeface="Arial"/>
              </a:rPr>
              <a:t>Hoàng Minh Đức  ·  Trần Quý Đạt  ·  Hoàng Trung Kiên  ·  Vũ Thuỳ Linh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Bài toán &amp; động lực</a:t>
            </a:r>
          </a:p>
          <a:p>
            <a:pPr algn="l">
              <a:lnSpc>
                <a:spcPct val="115000"/>
              </a:lnSpc>
              <a:spcAft>
                <a:spcPts val="600"/>
              </a:spcAft>
            </a:pPr>
            <a:r>
              <a:rPr sz="1300" b="0">
                <a:solidFill>
                  <a:srgbClr val="B6C2D9"/>
                </a:solidFill>
                <a:latin typeface="Arial"/>
              </a:rPr>
              <a:t>Vì sao cần tăng cường dữ liệu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a:t>
            </a:r>
          </a:p>
        </p:txBody>
      </p:sp>
      <p:sp>
        <p:nvSpPr>
          <p:cNvPr id="6" name="Rectangle 5"/>
          <p:cNvSpPr/>
          <p:nvPr/>
        </p:nvSpPr>
        <p:spPr>
          <a:xfrm>
            <a:off x="640080" y="15179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Detector suy giảm mạnh khi thời tiết xấu.</a:t>
            </a:r>
          </a:p>
        </p:txBody>
      </p:sp>
      <p:sp>
        <p:nvSpPr>
          <p:cNvPr id="8" name="Rectangle 7"/>
          <p:cNvSpPr/>
          <p:nvPr/>
        </p:nvSpPr>
        <p:spPr>
          <a:xfrm>
            <a:off x="640080" y="208483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8424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Dữ liệu huấn luyện lệch nặng về ảnh trời quang.</a:t>
            </a:r>
          </a:p>
        </p:txBody>
      </p:sp>
      <p:sp>
        <p:nvSpPr>
          <p:cNvPr id="10" name="Rectangle 9"/>
          <p:cNvSpPr/>
          <p:nvPr/>
        </p:nvSpPr>
        <p:spPr>
          <a:xfrm>
            <a:off x="640080" y="2651760"/>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51176"/>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BDD100K: ảnh mưa/tuyết ban ngày chỉ ~8%.</a:t>
            </a:r>
          </a:p>
        </p:txBody>
      </p:sp>
      <p:sp>
        <p:nvSpPr>
          <p:cNvPr id="12" name="Rectangle 11"/>
          <p:cNvSpPr/>
          <p:nvPr/>
        </p:nvSpPr>
        <p:spPr>
          <a:xfrm>
            <a:off x="640080" y="3218688"/>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18104"/>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Thu thập ảnh thời tiết xấu rất tốn kém.</a:t>
            </a:r>
          </a:p>
        </p:txBody>
      </p:sp>
      <p:sp>
        <p:nvSpPr>
          <p:cNvPr id="14" name="Rectangle 13"/>
          <p:cNvSpPr/>
          <p:nvPr/>
        </p:nvSpPr>
        <p:spPr>
          <a:xfrm>
            <a:off x="640080" y="3785616"/>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85032"/>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Phải chờ đúng thời tiết + gán nhãn lại từ đầu.</a:t>
            </a:r>
          </a:p>
        </p:txBody>
      </p:sp>
      <p:sp>
        <p:nvSpPr>
          <p:cNvPr id="16" name="Rectangle 15"/>
          <p:cNvSpPr/>
          <p:nvPr/>
        </p:nvSpPr>
        <p:spPr>
          <a:xfrm>
            <a:off x="640080" y="43525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Giải pháp: sinh ảnh từ dữ liệu đã có nhãn.</a:t>
            </a:r>
          </a:p>
        </p:txBody>
      </p:sp>
      <p:sp>
        <p:nvSpPr>
          <p:cNvPr id="18" name="Rectangle 17"/>
          <p:cNvSpPr/>
          <p:nvPr/>
        </p:nvSpPr>
        <p:spPr>
          <a:xfrm>
            <a:off x="640080" y="491947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1888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Chi phí gán nhãn cho dữ liệu mới bằng 0.</a:t>
            </a:r>
          </a:p>
        </p:txBody>
      </p:sp>
      <p:sp>
        <p:nvSpPr>
          <p:cNvPr id="20" name="Rectangle 19"/>
          <p:cNvSpPr/>
          <p:nvPr/>
        </p:nvSpPr>
        <p:spPr>
          <a:xfrm>
            <a:off x="6492240" y="146304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463040"/>
            <a:ext cx="64008" cy="137160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162763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VÀO</a:t>
            </a:r>
          </a:p>
          <a:p>
            <a:pPr algn="l">
              <a:lnSpc>
                <a:spcPct val="115000"/>
              </a:lnSpc>
              <a:spcAft>
                <a:spcPts val="600"/>
              </a:spcAft>
            </a:pPr>
            <a:r>
              <a:rPr sz="1300" b="0">
                <a:solidFill>
                  <a:srgbClr val="5A6375"/>
                </a:solidFill>
                <a:latin typeface="Arial"/>
              </a:rPr>
              <a:t>1 ảnh giao thông điều kiện bình thường
+ 1 ảnh tham chiếu thời tiết (mưa/tuyết/sương mù/mù khô/bão cát)</a:t>
            </a:r>
          </a:p>
        </p:txBody>
      </p:sp>
      <p:sp>
        <p:nvSpPr>
          <p:cNvPr id="23" name="Rectangle 22"/>
          <p:cNvSpPr/>
          <p:nvPr/>
        </p:nvSpPr>
        <p:spPr>
          <a:xfrm>
            <a:off x="6492240" y="301752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3017520"/>
            <a:ext cx="64008" cy="13716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318211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RA</a:t>
            </a:r>
          </a:p>
          <a:p>
            <a:pPr algn="l">
              <a:lnSpc>
                <a:spcPct val="115000"/>
              </a:lnSpc>
              <a:spcAft>
                <a:spcPts val="600"/>
              </a:spcAft>
            </a:pPr>
            <a:r>
              <a:rPr sz="1300" b="0">
                <a:solidFill>
                  <a:srgbClr val="5A6375"/>
                </a:solidFill>
                <a:latin typeface="Arial"/>
              </a:rPr>
              <a:t>Chính ảnh giao thông đó dưới điều kiện thời tiết mong muốn,
nhãn bounding box giữ nguyên 100%</a:t>
            </a:r>
          </a:p>
        </p:txBody>
      </p:sp>
      <p:sp>
        <p:nvSpPr>
          <p:cNvPr id="26" name="Rectangle 25"/>
          <p:cNvSpPr/>
          <p:nvPr/>
        </p:nvSpPr>
        <p:spPr>
          <a:xfrm>
            <a:off x="6492240" y="4572000"/>
            <a:ext cx="5120640" cy="14630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572000"/>
            <a:ext cx="64008" cy="1463040"/>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8272" y="4736592"/>
            <a:ext cx="4663440" cy="14630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RÀNG BUỘC</a:t>
            </a:r>
          </a:p>
          <a:p>
            <a:pPr algn="l">
              <a:lnSpc>
                <a:spcPct val="115000"/>
              </a:lnSpc>
              <a:spcAft>
                <a:spcPts val="600"/>
              </a:spcAft>
            </a:pPr>
            <a:r>
              <a:rPr sz="1300" b="0">
                <a:solidFill>
                  <a:srgbClr val="5A6375"/>
                </a:solidFill>
                <a:latin typeface="Arial"/>
              </a:rPr>
              <a:t>· Mã nguồn mở  · Huấn luyện được trên 1 GPU
· Suy luận thời gian thực  · Dễ giải thích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a:t>
            </a:r>
          </a:p>
          <a:p>
            <a:pPr algn="l">
              <a:lnSpc>
                <a:spcPct val="115000"/>
              </a:lnSpc>
              <a:spcAft>
                <a:spcPts val="600"/>
              </a:spcAft>
            </a:pPr>
            <a:r>
              <a:rPr sz="1300" b="0">
                <a:solidFill>
                  <a:srgbClr val="B6C2D9"/>
                </a:solidFill>
                <a:latin typeface="Arial"/>
              </a:rPr>
              <a:t>Hai bộ dữ liệu công khai, tải tự động, không cần đăng ký</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2</a:t>
            </a:r>
          </a:p>
        </p:txBody>
      </p:sp>
      <p:pic>
        <p:nvPicPr>
          <p:cNvPr id="6" name="Picture 5" descr="fig_dataset.png"/>
          <p:cNvPicPr>
            <a:picLocks noChangeAspect="1"/>
          </p:cNvPicPr>
          <p:nvPr/>
        </p:nvPicPr>
        <p:blipFill>
          <a:blip r:embed="rId2"/>
          <a:stretch>
            <a:fillRect/>
          </a:stretch>
        </p:blipFill>
        <p:spPr>
          <a:xfrm>
            <a:off x="838775" y="1188720"/>
            <a:ext cx="10483969" cy="2743199"/>
          </a:xfrm>
          <a:prstGeom prst="rect">
            <a:avLst/>
          </a:prstGeom>
        </p:spPr>
      </p:pic>
      <p:sp>
        <p:nvSpPr>
          <p:cNvPr id="7" name="TextBox 6"/>
          <p:cNvSpPr txBox="1"/>
          <p:nvPr/>
        </p:nvSpPr>
        <p:spPr>
          <a:xfrm>
            <a:off x="685800" y="3977639"/>
            <a:ext cx="10789920" cy="36576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Biểu đồ = kho 10.000 ảnh có sẵn để chọn.   Bảng = số ảnh đã LỌC RA và thực sự dùng (chỉ lấy ban ngày, giới hạn số lượng cho nhẹ).</a:t>
            </a:r>
          </a:p>
        </p:txBody>
      </p:sp>
      <p:sp>
        <p:nvSpPr>
          <p:cNvPr id="8" name="Rectangle 7"/>
          <p:cNvSpPr/>
          <p:nvPr/>
        </p:nvSpPr>
        <p:spPr>
          <a:xfrm>
            <a:off x="685800" y="4407408"/>
            <a:ext cx="1078992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471416"/>
            <a:ext cx="2790496"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Đã chọn ra từ kho</a:t>
            </a:r>
          </a:p>
        </p:txBody>
      </p:sp>
      <p:sp>
        <p:nvSpPr>
          <p:cNvPr id="10" name="TextBox 9"/>
          <p:cNvSpPr txBox="1"/>
          <p:nvPr/>
        </p:nvSpPr>
        <p:spPr>
          <a:xfrm>
            <a:off x="3586024" y="4471416"/>
            <a:ext cx="4650827"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Vai trò</a:t>
            </a:r>
          </a:p>
        </p:txBody>
      </p:sp>
      <p:sp>
        <p:nvSpPr>
          <p:cNvPr id="11" name="TextBox 10"/>
          <p:cNvSpPr txBox="1"/>
          <p:nvPr/>
        </p:nvSpPr>
        <p:spPr>
          <a:xfrm>
            <a:off x="8236851" y="4471416"/>
            <a:ext cx="1581281"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Số lượng</a:t>
            </a:r>
          </a:p>
        </p:txBody>
      </p:sp>
      <p:sp>
        <p:nvSpPr>
          <p:cNvPr id="12" name="TextBox 11"/>
          <p:cNvSpPr txBox="1"/>
          <p:nvPr/>
        </p:nvSpPr>
        <p:spPr>
          <a:xfrm>
            <a:off x="9818132" y="4471416"/>
            <a:ext cx="1767314"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Giấy phép</a:t>
            </a:r>
          </a:p>
        </p:txBody>
      </p:sp>
      <p:sp>
        <p:nvSpPr>
          <p:cNvPr id="13" name="Rectangle 12"/>
          <p:cNvSpPr/>
          <p:nvPr/>
        </p:nvSpPr>
        <p:spPr>
          <a:xfrm>
            <a:off x="685800" y="4791456"/>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4855464"/>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trời quang, ban ngày</a:t>
            </a:r>
          </a:p>
        </p:txBody>
      </p:sp>
      <p:sp>
        <p:nvSpPr>
          <p:cNvPr id="15" name="TextBox 14"/>
          <p:cNvSpPr txBox="1"/>
          <p:nvPr/>
        </p:nvSpPr>
        <p:spPr>
          <a:xfrm>
            <a:off x="3586024" y="4855464"/>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nội dung (đầu vào) + nhãn bounding box</a:t>
            </a:r>
          </a:p>
        </p:txBody>
      </p:sp>
      <p:sp>
        <p:nvSpPr>
          <p:cNvPr id="16" name="TextBox 15"/>
          <p:cNvSpPr txBox="1"/>
          <p:nvPr/>
        </p:nvSpPr>
        <p:spPr>
          <a:xfrm>
            <a:off x="8236851" y="4855464"/>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2.400 ảnh</a:t>
            </a:r>
          </a:p>
        </p:txBody>
      </p:sp>
      <p:sp>
        <p:nvSpPr>
          <p:cNvPr id="17" name="TextBox 16"/>
          <p:cNvSpPr txBox="1"/>
          <p:nvPr/>
        </p:nvSpPr>
        <p:spPr>
          <a:xfrm>
            <a:off x="9818132" y="4855464"/>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18" name="Rectangle 17"/>
          <p:cNvSpPr/>
          <p:nvPr/>
        </p:nvSpPr>
        <p:spPr>
          <a:xfrm>
            <a:off x="685800" y="5175504"/>
            <a:ext cx="10789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5239512"/>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mưa/tuyết, ban ngày</a:t>
            </a:r>
          </a:p>
        </p:txBody>
      </p:sp>
      <p:sp>
        <p:nvSpPr>
          <p:cNvPr id="20" name="TextBox 19"/>
          <p:cNvSpPr txBox="1"/>
          <p:nvPr/>
        </p:nvSpPr>
        <p:spPr>
          <a:xfrm>
            <a:off x="3586024" y="5239512"/>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300 ảnh tham chiếu  +  500 ảnh tập test THẬT</a:t>
            </a:r>
          </a:p>
        </p:txBody>
      </p:sp>
      <p:sp>
        <p:nvSpPr>
          <p:cNvPr id="21" name="TextBox 20"/>
          <p:cNvSpPr txBox="1"/>
          <p:nvPr/>
        </p:nvSpPr>
        <p:spPr>
          <a:xfrm>
            <a:off x="8236851" y="5239512"/>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800 ảnh</a:t>
            </a:r>
          </a:p>
        </p:txBody>
      </p:sp>
      <p:sp>
        <p:nvSpPr>
          <p:cNvPr id="22" name="TextBox 21"/>
          <p:cNvSpPr txBox="1"/>
          <p:nvPr/>
        </p:nvSpPr>
        <p:spPr>
          <a:xfrm>
            <a:off x="9818132" y="5239512"/>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23" name="Rectangle 22"/>
          <p:cNvSpPr/>
          <p:nvPr/>
        </p:nvSpPr>
        <p:spPr>
          <a:xfrm>
            <a:off x="685800" y="5559552"/>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8" y="5623560"/>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DAWN (Mendeley)</a:t>
            </a:r>
          </a:p>
        </p:txBody>
      </p:sp>
      <p:sp>
        <p:nvSpPr>
          <p:cNvPr id="25" name="TextBox 24"/>
          <p:cNvSpPr txBox="1"/>
          <p:nvPr/>
        </p:nvSpPr>
        <p:spPr>
          <a:xfrm>
            <a:off x="3586024" y="5623560"/>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tham chiếu: sương mù / mù khô / mưa / tuyết / bão cát</a:t>
            </a:r>
          </a:p>
        </p:txBody>
      </p:sp>
      <p:sp>
        <p:nvSpPr>
          <p:cNvPr id="26" name="TextBox 25"/>
          <p:cNvSpPr txBox="1"/>
          <p:nvPr/>
        </p:nvSpPr>
        <p:spPr>
          <a:xfrm>
            <a:off x="8236851" y="5623560"/>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1.027 ảnh</a:t>
            </a:r>
          </a:p>
        </p:txBody>
      </p:sp>
      <p:sp>
        <p:nvSpPr>
          <p:cNvPr id="27" name="TextBox 26"/>
          <p:cNvSpPr txBox="1"/>
          <p:nvPr/>
        </p:nvSpPr>
        <p:spPr>
          <a:xfrm>
            <a:off x="9818132" y="5623560"/>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Chỉ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 — ảnh mẫu &amp; định dạng nhãn</a:t>
            </a:r>
          </a:p>
          <a:p>
            <a:pPr algn="l">
              <a:lnSpc>
                <a:spcPct val="115000"/>
              </a:lnSpc>
              <a:spcAft>
                <a:spcPts val="600"/>
              </a:spcAft>
            </a:pPr>
            <a:r>
              <a:rPr sz="1300" b="0">
                <a:solidFill>
                  <a:srgbClr val="B6C2D9"/>
                </a:solidFill>
                <a:latin typeface="Arial"/>
              </a:rPr>
              <a:t>Hai loại ảnh đầu vào, và nhãn đi kèm mỗi ảnh nội dung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3</a:t>
            </a:r>
          </a:p>
        </p:txBody>
      </p:sp>
      <p:pic>
        <p:nvPicPr>
          <p:cNvPr id="6" name="Picture 5" descr="fig_data_samples.jpg"/>
          <p:cNvPicPr>
            <a:picLocks noChangeAspect="1"/>
          </p:cNvPicPr>
          <p:nvPr/>
        </p:nvPicPr>
        <p:blipFill>
          <a:blip r:embed="rId2"/>
          <a:stretch>
            <a:fillRect/>
          </a:stretch>
        </p:blipFill>
        <p:spPr>
          <a:xfrm>
            <a:off x="823878" y="1170432"/>
            <a:ext cx="10513763" cy="3200400"/>
          </a:xfrm>
          <a:prstGeom prst="rect">
            <a:avLst/>
          </a:prstGeom>
        </p:spPr>
      </p:pic>
      <p:sp>
        <p:nvSpPr>
          <p:cNvPr id="7" name="Rectangle 6"/>
          <p:cNvSpPr/>
          <p:nvPr/>
        </p:nvSpPr>
        <p:spPr>
          <a:xfrm>
            <a:off x="640080" y="4526280"/>
            <a:ext cx="5394960" cy="178308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526280"/>
            <a:ext cx="64008" cy="178308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690872"/>
            <a:ext cx="4937760" cy="178308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MỖI ẢNH NỘI DUNG CÓ 3 LOẠI NHÃN</a:t>
            </a:r>
          </a:p>
          <a:p>
            <a:pPr algn="l">
              <a:lnSpc>
                <a:spcPct val="115000"/>
              </a:lnSpc>
              <a:spcAft>
                <a:spcPts val="600"/>
              </a:spcAft>
            </a:pPr>
            <a:r>
              <a:rPr sz="1300" b="0">
                <a:solidFill>
                  <a:srgbClr val="5A6375"/>
                </a:solidFill>
                <a:latin typeface="Arial"/>
              </a:rPr>
              <a:t>· weather   — clear / overcast / rainy / snowy / foggy …
· timeofday — daytime / night / dawn-dusk
· bounding box — 10 lớp (car, pedestrian, traffic sign …)
   62.468 box trên 3.200 ảnh, trung bình ~20 box/ảnh</a:t>
            </a:r>
          </a:p>
        </p:txBody>
      </p:sp>
      <p:sp>
        <p:nvSpPr>
          <p:cNvPr id="10" name="Rectangle 9"/>
          <p:cNvSpPr/>
          <p:nvPr/>
        </p:nvSpPr>
        <p:spPr>
          <a:xfrm>
            <a:off x="6400800" y="4526280"/>
            <a:ext cx="5120640" cy="178308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4663440"/>
            <a:ext cx="4754880" cy="1645920"/>
          </a:xfrm>
          <a:prstGeom prst="rect">
            <a:avLst/>
          </a:prstGeom>
          <a:noFill/>
        </p:spPr>
        <p:txBody>
          <a:bodyPr wrap="square" lIns="0" rIns="0">
            <a:spAutoFit/>
          </a:bodyPr>
          <a:lstStyle/>
          <a:p>
            <a:pPr algn="l">
              <a:lnSpc>
                <a:spcPct val="110000"/>
              </a:lnSpc>
              <a:spcAft>
                <a:spcPts val="600"/>
              </a:spcAft>
            </a:pPr>
            <a:r>
              <a:rPr sz="1500" b="1">
                <a:solidFill>
                  <a:srgbClr val="18A099"/>
                </a:solidFill>
                <a:latin typeface="Arial"/>
              </a:rPr>
              <a:t>ĐỊNH DẠNG NHÃN (YOLO)</a:t>
            </a:r>
          </a:p>
          <a:p>
            <a:pPr algn="l">
              <a:lnSpc>
                <a:spcPct val="110000"/>
              </a:lnSpc>
              <a:spcAft>
                <a:spcPts val="600"/>
              </a:spcAft>
            </a:pPr>
            <a:r>
              <a:rPr sz="1300" b="0">
                <a:solidFill>
                  <a:srgbClr val="9FB0C8"/>
                </a:solidFill>
                <a:latin typeface="Arial"/>
              </a:rPr>
              <a:t>b1c66a42-6f7d68ca.txt</a:t>
            </a:r>
          </a:p>
          <a:p>
            <a:pPr algn="l">
              <a:lnSpc>
                <a:spcPct val="110000"/>
              </a:lnSpc>
              <a:spcAft>
                <a:spcPts val="600"/>
              </a:spcAft>
            </a:pPr>
            <a:r>
              <a:rPr sz="1300" b="0">
                <a:solidFill>
                  <a:srgbClr val="FFFFFF"/>
                </a:solidFill>
                <a:latin typeface="Arial"/>
              </a:rPr>
              <a:t>2  0.482  0.531  0.061  0.088     → car</a:t>
            </a:r>
          </a:p>
          <a:p>
            <a:pPr algn="l">
              <a:lnSpc>
                <a:spcPct val="110000"/>
              </a:lnSpc>
              <a:spcAft>
                <a:spcPts val="600"/>
              </a:spcAft>
            </a:pPr>
            <a:r>
              <a:rPr sz="1300" b="0">
                <a:solidFill>
                  <a:srgbClr val="FFFFFF"/>
                </a:solidFill>
                <a:latin typeface="Arial"/>
              </a:rPr>
              <a:t>9  0.781  0.391  0.031  0.062     → traffic sign</a:t>
            </a:r>
          </a:p>
          <a:p>
            <a:pPr algn="l">
              <a:lnSpc>
                <a:spcPct val="110000"/>
              </a:lnSpc>
              <a:spcAft>
                <a:spcPts val="600"/>
              </a:spcAft>
            </a:pPr>
            <a:r>
              <a:rPr sz="1200" b="0">
                <a:solidFill>
                  <a:srgbClr val="9FB0C8"/>
                </a:solidFill>
                <a:latin typeface="Arial"/>
              </a:rPr>
              <a:t>lớp   x_tâm   y_tâm   rộng   cao   (đã chuẩn hoá 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Phương pháp — 3 khối nối tiếp</a:t>
            </a:r>
          </a:p>
          <a:p>
            <a:pPr algn="l">
              <a:lnSpc>
                <a:spcPct val="115000"/>
              </a:lnSpc>
              <a:spcAft>
                <a:spcPts val="600"/>
              </a:spcAft>
            </a:pPr>
            <a:r>
              <a:rPr sz="1300" b="0">
                <a:solidFill>
                  <a:srgbClr val="B6C2D9"/>
                </a:solidFill>
                <a:latin typeface="Arial"/>
              </a:rPr>
              <a:t>Mỗi khối bù đúng một điểm yếu của khối trước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4</a:t>
            </a:r>
          </a:p>
        </p:txBody>
      </p:sp>
      <p:sp>
        <p:nvSpPr>
          <p:cNvPr id="6" name="Rectangle 5"/>
          <p:cNvSpPr/>
          <p:nvPr/>
        </p:nvSpPr>
        <p:spPr>
          <a:xfrm>
            <a:off x="5486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3337560" cy="82296"/>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① AdaIN  (học sâu)</a:t>
            </a:r>
          </a:p>
          <a:p>
            <a:pPr algn="l">
              <a:lnSpc>
                <a:spcPct val="115000"/>
              </a:lnSpc>
              <a:spcAft>
                <a:spcPts val="600"/>
              </a:spcAft>
            </a:pPr>
            <a:r>
              <a:rPr sz="1300" b="0">
                <a:solidFill>
                  <a:srgbClr val="5A6375"/>
                </a:solidFill>
                <a:latin typeface="Arial"/>
              </a:rPr>
              <a:t>Chuẩn hoá đặc trưng VGG của ảnh gốc rồi nhuộm lại bằng mean/std của ảnh thời tiết.
→ Đổi tông màu, độ sáng, độ mù toàn cục.</a:t>
            </a:r>
          </a:p>
        </p:txBody>
      </p:sp>
      <p:sp>
        <p:nvSpPr>
          <p:cNvPr id="9" name="Rectangle 8"/>
          <p:cNvSpPr/>
          <p:nvPr/>
        </p:nvSpPr>
        <p:spPr>
          <a:xfrm>
            <a:off x="44348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1371600"/>
            <a:ext cx="3337560" cy="82296"/>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② Guided Filter</a:t>
            </a:r>
          </a:p>
          <a:p>
            <a:pPr algn="l">
              <a:lnSpc>
                <a:spcPct val="115000"/>
              </a:lnSpc>
              <a:spcAft>
                <a:spcPts val="600"/>
              </a:spcAft>
            </a:pPr>
            <a:r>
              <a:rPr sz="1300" b="0">
                <a:solidFill>
                  <a:srgbClr val="5A6375"/>
                </a:solidFill>
                <a:latin typeface="Arial"/>
              </a:rPr>
              <a:t>Dùng ảnh gốc làm ảnh dẫn hướng, lọc tuyến tính cục bộ q = a·I + b.
Bán kính lớn (32) → a, b mượt → đầu ra = ẢNH GỐC nhân trường tương phản + lệch màu.
→ Giữ 100% chi tiết ảnh chụp, chỉ đổi tông thời tiết.</a:t>
            </a:r>
          </a:p>
        </p:txBody>
      </p:sp>
      <p:sp>
        <p:nvSpPr>
          <p:cNvPr id="12" name="Rectangle 11"/>
          <p:cNvSpPr/>
          <p:nvPr/>
        </p:nvSpPr>
        <p:spPr>
          <a:xfrm>
            <a:off x="83210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0" y="1371600"/>
            <a:ext cx="3337560" cy="82296"/>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③ Phủ hạt (vật lý)</a:t>
            </a:r>
          </a:p>
          <a:p>
            <a:pPr algn="l">
              <a:lnSpc>
                <a:spcPct val="115000"/>
              </a:lnSpc>
              <a:spcAft>
                <a:spcPts val="600"/>
              </a:spcAft>
            </a:pPr>
            <a:r>
              <a:rPr sz="1300" b="0">
                <a:solidFill>
                  <a:srgbClr val="5A6375"/>
                </a:solidFill>
                <a:latin typeface="Arial"/>
              </a:rPr>
              <a:t>Sinh vệt mưa (nhiễu + motion blur) và bông tuyết (3 lớp độ sâu), phủ theo chế độ screen.
→ Thêm chi tiết cục bộ mà AdaIN không tạo ra được.</a:t>
            </a:r>
          </a:p>
        </p:txBody>
      </p:sp>
      <p:sp>
        <p:nvSpPr>
          <p:cNvPr id="15" name="TextBox 14"/>
          <p:cNvSpPr txBox="1"/>
          <p:nvPr/>
        </p:nvSpPr>
        <p:spPr>
          <a:xfrm>
            <a:off x="548640" y="4617720"/>
            <a:ext cx="11064240" cy="146304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Vì sao nhãn bounding box vẫn dùng lại được?</a:t>
            </a:r>
          </a:p>
          <a:p>
            <a:pPr algn="l">
              <a:lnSpc>
                <a:spcPct val="115000"/>
              </a:lnSpc>
              <a:spcAft>
                <a:spcPts val="600"/>
              </a:spcAft>
            </a:pPr>
            <a:r>
              <a:rPr sz="1500" b="0">
                <a:solidFill>
                  <a:srgbClr val="5A6375"/>
                </a:solidFill>
                <a:latin typeface="Arial"/>
              </a:rPr>
              <a:t>Cả 3 khối chỉ thay đổi GIÁ TRỊ MÀU tại từng pixel — không dịch chuyển, không co giãn, không xoay vật thể. Vị trí chiếc xe trong ảnh đầu ra trùng khít vị trí trong ảnh gốc, nên toàn bộ nhãn cũ được sao chép nguyên vẹn. Chi phí gán nhãn cho dữ liệu mới =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① AdaIN — trái tim của phương pháp</a:t>
            </a:r>
          </a:p>
          <a:p>
            <a:pPr algn="l">
              <a:lnSpc>
                <a:spcPct val="115000"/>
              </a:lnSpc>
              <a:spcAft>
                <a:spcPts val="600"/>
              </a:spcAft>
            </a:pPr>
            <a:r>
              <a:rPr sz="1300" b="0">
                <a:solidFill>
                  <a:srgbClr val="B6C2D9"/>
                </a:solidFill>
                <a:latin typeface="Arial"/>
              </a:rPr>
              <a:t>Huang &amp; Belongie, ICCV 2017</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5</a:t>
            </a:r>
          </a:p>
        </p:txBody>
      </p:sp>
      <p:sp>
        <p:nvSpPr>
          <p:cNvPr id="6" name="Rectangle 5"/>
          <p:cNvSpPr/>
          <p:nvPr/>
        </p:nvSpPr>
        <p:spPr>
          <a:xfrm>
            <a:off x="640080" y="1371600"/>
            <a:ext cx="10881360" cy="123444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914400"/>
          </a:xfrm>
          <a:prstGeom prst="rect">
            <a:avLst/>
          </a:prstGeom>
          <a:noFill/>
        </p:spPr>
        <p:txBody>
          <a:bodyPr wrap="square" lIns="0" rIns="0">
            <a:spAutoFit/>
          </a:bodyPr>
          <a:lstStyle/>
          <a:p>
            <a:pPr algn="ctr">
              <a:lnSpc>
                <a:spcPct val="115000"/>
              </a:lnSpc>
              <a:spcAft>
                <a:spcPts val="600"/>
              </a:spcAft>
            </a:pPr>
            <a:r>
              <a:rPr sz="3000" b="1">
                <a:solidFill>
                  <a:srgbClr val="18A099"/>
                </a:solidFill>
                <a:latin typeface="Arial"/>
              </a:rPr>
              <a:t>AdaIN(c, s)  =  σ(s) · ( c − μ(c) ) / σ(c)  +  μ(s)</a:t>
            </a:r>
          </a:p>
        </p:txBody>
      </p:sp>
      <p:sp>
        <p:nvSpPr>
          <p:cNvPr id="8" name="Rectangle 7"/>
          <p:cNvSpPr/>
          <p:nvPr/>
        </p:nvSpPr>
        <p:spPr>
          <a:xfrm>
            <a:off x="640080" y="30266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 = đặc trưng VGG của ảnh giao thông,  s = đặc trưng VGG của ảnh thời tiết.</a:t>
            </a:r>
          </a:p>
        </p:txBody>
      </p:sp>
      <p:sp>
        <p:nvSpPr>
          <p:cNvPr id="10" name="Rectangle 9"/>
          <p:cNvSpPr/>
          <p:nvPr/>
        </p:nvSpPr>
        <p:spPr>
          <a:xfrm>
            <a:off x="640080" y="35753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1 — ( c − μ(c) ) / σ(c): xoá phong cách gốc (trời quang), giữ lại cấu trúc không gian.</a:t>
            </a:r>
          </a:p>
        </p:txBody>
      </p:sp>
      <p:sp>
        <p:nvSpPr>
          <p:cNvPr id="12" name="Rectangle 11"/>
          <p:cNvSpPr/>
          <p:nvPr/>
        </p:nvSpPr>
        <p:spPr>
          <a:xfrm>
            <a:off x="640080" y="41239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2336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2 — nhân σ(s), cộng μ(s): 'nhuộm' bằng thống kê của ảnh thời tiết.</a:t>
            </a:r>
          </a:p>
        </p:txBody>
      </p:sp>
      <p:sp>
        <p:nvSpPr>
          <p:cNvPr id="14" name="Rectangle 13"/>
          <p:cNvSpPr/>
          <p:nvPr/>
        </p:nvSpPr>
        <p:spPr>
          <a:xfrm>
            <a:off x="640080" y="4672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57200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Chỉ đổi thống kê THEO KÊNH ⇒ bản đồ đặc trưng không bị dịch chuyển ⇒ giữ bố cục.</a:t>
            </a:r>
          </a:p>
        </p:txBody>
      </p:sp>
      <p:sp>
        <p:nvSpPr>
          <p:cNvPr id="16" name="Rectangle 15"/>
          <p:cNvSpPr/>
          <p:nvPr/>
        </p:nvSpPr>
        <p:spPr>
          <a:xfrm>
            <a:off x="640080" y="522122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12064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Không có tham số học nào trong AdaIN — chỉ Decoder (3,51 triệu tham số) được huấn luyện.</a:t>
            </a:r>
          </a:p>
        </p:txBody>
      </p:sp>
      <p:sp>
        <p:nvSpPr>
          <p:cNvPr id="18" name="Rectangle 17"/>
          <p:cNvSpPr/>
          <p:nvPr/>
        </p:nvSpPr>
        <p:spPr>
          <a:xfrm>
            <a:off x="640080" y="57698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6692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Hệ quả: thời tiết mới chỉ cần đưa ảnh tham chiếu vào, KHÔNG huấn luyện lại.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Tiền xử lý dữ liệu &amp; quy trình huấn luyện</a:t>
            </a:r>
          </a:p>
          <a:p>
            <a:pPr algn="l">
              <a:lnSpc>
                <a:spcPct val="115000"/>
              </a:lnSpc>
              <a:spcAft>
                <a:spcPts val="600"/>
              </a:spcAft>
            </a:pPr>
            <a:r>
              <a:rPr sz="1300" b="0">
                <a:solidFill>
                  <a:srgbClr val="B6C2D9"/>
                </a:solidFill>
                <a:latin typeface="Arial"/>
              </a:rPr>
              <a:t>Chỉ Decoder được học — VGG-19 đóng băng hoàn toàn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6</a:t>
            </a:r>
          </a:p>
        </p:txBody>
      </p:sp>
      <p:sp>
        <p:nvSpPr>
          <p:cNvPr id="6" name="Rectangle 5"/>
          <p:cNvSpPr/>
          <p:nvPr/>
        </p:nvSpPr>
        <p:spPr>
          <a:xfrm>
            <a:off x="640080" y="1234440"/>
            <a:ext cx="5486400" cy="3429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34440"/>
            <a:ext cx="5486400" cy="73152"/>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71600"/>
            <a:ext cx="5120640" cy="3200400"/>
          </a:xfrm>
          <a:prstGeom prst="rect">
            <a:avLst/>
          </a:prstGeom>
          <a:noFill/>
        </p:spPr>
        <p:txBody>
          <a:bodyPr wrap="square" lIns="0" rIns="0">
            <a:spAutoFit/>
          </a:bodyPr>
          <a:lstStyle/>
          <a:p>
            <a:pPr algn="l">
              <a:lnSpc>
                <a:spcPct val="98000"/>
              </a:lnSpc>
              <a:spcAft>
                <a:spcPts val="600"/>
              </a:spcAft>
            </a:pPr>
            <a:r>
              <a:rPr sz="1700" b="1">
                <a:solidFill>
                  <a:srgbClr val="101B33"/>
                </a:solidFill>
                <a:latin typeface="Arial"/>
              </a:rPr>
              <a:t>TIỀN XỬ LÝ</a:t>
            </a:r>
          </a:p>
          <a:p>
            <a:pPr algn="l">
              <a:lnSpc>
                <a:spcPct val="98000"/>
              </a:lnSpc>
              <a:spcAft>
                <a:spcPts val="600"/>
              </a:spcAft>
            </a:pPr>
            <a:r>
              <a:rPr sz="1400" b="1">
                <a:solidFill>
                  <a:srgbClr val="2E6FD9"/>
                </a:solidFill>
                <a:latin typeface="Arial"/>
              </a:rPr>
              <a:t>① Lọc dữ liệu — chỉ giữ ảnh BAN NGÀY</a:t>
            </a:r>
          </a:p>
          <a:p>
            <a:pPr algn="l">
              <a:lnSpc>
                <a:spcPct val="98000"/>
              </a:lnSpc>
              <a:spcAft>
                <a:spcPts val="600"/>
              </a:spcAft>
            </a:pPr>
            <a:r>
              <a:rPr sz="1200" b="0">
                <a:solidFill>
                  <a:srgbClr val="5A6375"/>
                </a:solidFill>
                <a:latin typeface="Arial"/>
              </a:rPr>
              <a:t>     clear / partly cloudy  →  ảnh nội dung</a:t>
            </a:r>
          </a:p>
          <a:p>
            <a:pPr algn="l">
              <a:lnSpc>
                <a:spcPct val="98000"/>
              </a:lnSpc>
              <a:spcAft>
                <a:spcPts val="600"/>
              </a:spcAft>
            </a:pPr>
            <a:r>
              <a:rPr sz="1200" b="0">
                <a:solidFill>
                  <a:srgbClr val="5A6375"/>
                </a:solidFill>
                <a:latin typeface="Arial"/>
              </a:rPr>
              <a:t>     rainy / snowy  →  ảnh tham chiếu + tập test</a:t>
            </a:r>
          </a:p>
          <a:p>
            <a:pPr algn="l">
              <a:lnSpc>
                <a:spcPct val="98000"/>
              </a:lnSpc>
              <a:spcAft>
                <a:spcPts val="600"/>
              </a:spcAft>
            </a:pPr>
            <a:r>
              <a:rPr sz="1400" b="1">
                <a:solidFill>
                  <a:srgbClr val="2E6FD9"/>
                </a:solidFill>
                <a:latin typeface="Arial"/>
              </a:rPr>
              <a:t>② Xử lý ảnh trước khi đưa vào mạng</a:t>
            </a:r>
          </a:p>
          <a:p>
            <a:pPr algn="l">
              <a:lnSpc>
                <a:spcPct val="98000"/>
              </a:lnSpc>
              <a:spcAft>
                <a:spcPts val="600"/>
              </a:spcAft>
            </a:pPr>
            <a:r>
              <a:rPr sz="1200" b="0">
                <a:solidFill>
                  <a:srgbClr val="5A6375"/>
                </a:solidFill>
                <a:latin typeface="Arial"/>
              </a:rPr>
              <a:t>     Ảnh gốc 1280×720</a:t>
            </a:r>
          </a:p>
          <a:p>
            <a:pPr algn="l">
              <a:lnSpc>
                <a:spcPct val="98000"/>
              </a:lnSpc>
              <a:spcAft>
                <a:spcPts val="600"/>
              </a:spcAft>
            </a:pPr>
            <a:r>
              <a:rPr sz="1200" b="0">
                <a:solidFill>
                  <a:srgbClr val="5A6375"/>
                </a:solidFill>
                <a:latin typeface="Arial"/>
              </a:rPr>
              <a:t>        ↓  resize cạnh ngắn về 320 px</a:t>
            </a:r>
          </a:p>
          <a:p>
            <a:pPr algn="l">
              <a:lnSpc>
                <a:spcPct val="98000"/>
              </a:lnSpc>
              <a:spcAft>
                <a:spcPts val="600"/>
              </a:spcAft>
            </a:pPr>
            <a:r>
              <a:rPr sz="1200" b="0">
                <a:solidFill>
                  <a:srgbClr val="5A6375"/>
                </a:solidFill>
                <a:latin typeface="Arial"/>
              </a:rPr>
              <a:t>        ↓  cắt ngẫu nhiên 256×256  (tăng đa dạng)</a:t>
            </a:r>
          </a:p>
          <a:p>
            <a:pPr algn="l">
              <a:lnSpc>
                <a:spcPct val="98000"/>
              </a:lnSpc>
              <a:spcAft>
                <a:spcPts val="600"/>
              </a:spcAft>
            </a:pPr>
            <a:r>
              <a:rPr sz="1200" b="0">
                <a:solidFill>
                  <a:srgbClr val="5A6375"/>
                </a:solidFill>
                <a:latin typeface="Arial"/>
              </a:rPr>
              <a:t>        ↓  lật ngang + chuẩn hoá về [0, 1]</a:t>
            </a:r>
          </a:p>
          <a:p>
            <a:pPr algn="l">
              <a:lnSpc>
                <a:spcPct val="98000"/>
              </a:lnSpc>
              <a:spcAft>
                <a:spcPts val="600"/>
              </a:spcAft>
            </a:pPr>
            <a:r>
              <a:rPr sz="1200" b="1">
                <a:solidFill>
                  <a:srgbClr val="101B33"/>
                </a:solidFill>
                <a:latin typeface="Arial"/>
              </a:rPr>
              <a:t>     →  Tensor 8×3×256×256</a:t>
            </a:r>
          </a:p>
        </p:txBody>
      </p:sp>
      <p:sp>
        <p:nvSpPr>
          <p:cNvPr id="9" name="Rectangle 8"/>
          <p:cNvSpPr/>
          <p:nvPr/>
        </p:nvSpPr>
        <p:spPr>
          <a:xfrm>
            <a:off x="6400800" y="1234440"/>
            <a:ext cx="5120640" cy="3429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1234440"/>
            <a:ext cx="5120640" cy="7315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371600"/>
            <a:ext cx="4754880" cy="3200400"/>
          </a:xfrm>
          <a:prstGeom prst="rect">
            <a:avLst/>
          </a:prstGeom>
          <a:noFill/>
        </p:spPr>
        <p:txBody>
          <a:bodyPr wrap="square" lIns="0" rIns="0">
            <a:spAutoFit/>
          </a:bodyPr>
          <a:lstStyle/>
          <a:p>
            <a:pPr algn="l">
              <a:lnSpc>
                <a:spcPct val="98000"/>
              </a:lnSpc>
              <a:spcAft>
                <a:spcPts val="600"/>
              </a:spcAft>
            </a:pPr>
            <a:r>
              <a:rPr sz="1700" b="1">
                <a:solidFill>
                  <a:srgbClr val="101B33"/>
                </a:solidFill>
                <a:latin typeface="Arial"/>
              </a:rPr>
              <a:t>MỘT BƯỚC HUẤN LUYỆN</a:t>
            </a:r>
          </a:p>
          <a:p>
            <a:pPr algn="l">
              <a:lnSpc>
                <a:spcPct val="98000"/>
              </a:lnSpc>
              <a:spcAft>
                <a:spcPts val="600"/>
              </a:spcAft>
            </a:pPr>
            <a:r>
              <a:rPr sz="1200" b="0">
                <a:solidFill>
                  <a:srgbClr val="5A6375"/>
                </a:solidFill>
                <a:latin typeface="Arial"/>
              </a:rPr>
              <a:t>1.  Lấy 8 ảnh trời quang + 8 ảnh thời tiết ngẫu nhiên</a:t>
            </a:r>
          </a:p>
          <a:p>
            <a:pPr algn="l">
              <a:lnSpc>
                <a:spcPct val="98000"/>
              </a:lnSpc>
              <a:spcAft>
                <a:spcPts val="600"/>
              </a:spcAft>
            </a:pPr>
            <a:r>
              <a:rPr sz="1200" b="0">
                <a:solidFill>
                  <a:srgbClr val="5A6375"/>
                </a:solidFill>
                <a:latin typeface="Arial"/>
              </a:rPr>
              <a:t>2.  Đưa cả hai qua VGG-19  →  đặc trưng c và s</a:t>
            </a:r>
          </a:p>
          <a:p>
            <a:pPr algn="l">
              <a:lnSpc>
                <a:spcPct val="98000"/>
              </a:lnSpc>
              <a:spcAft>
                <a:spcPts val="600"/>
              </a:spcAft>
            </a:pPr>
            <a:r>
              <a:rPr sz="1200" b="0">
                <a:solidFill>
                  <a:srgbClr val="5A6375"/>
                </a:solidFill>
                <a:latin typeface="Arial"/>
              </a:rPr>
              <a:t>3.  t = AdaIN(c, s)          (trộn thống kê)</a:t>
            </a:r>
          </a:p>
          <a:p>
            <a:pPr algn="l">
              <a:lnSpc>
                <a:spcPct val="98000"/>
              </a:lnSpc>
              <a:spcAft>
                <a:spcPts val="600"/>
              </a:spcAft>
            </a:pPr>
            <a:r>
              <a:rPr sz="1200" b="0">
                <a:solidFill>
                  <a:srgbClr val="5A6375"/>
                </a:solidFill>
                <a:latin typeface="Arial"/>
              </a:rPr>
              <a:t>4.  out = Decoder(t)        (dựng lại thành ảnh)</a:t>
            </a:r>
          </a:p>
          <a:p>
            <a:pPr algn="l">
              <a:lnSpc>
                <a:spcPct val="98000"/>
              </a:lnSpc>
              <a:spcAft>
                <a:spcPts val="600"/>
              </a:spcAft>
            </a:pPr>
            <a:r>
              <a:rPr sz="1200" b="0">
                <a:solidFill>
                  <a:srgbClr val="5A6375"/>
                </a:solidFill>
                <a:latin typeface="Arial"/>
              </a:rPr>
              <a:t>5.  Đưa out qua VGG lần nữa  →  tính 3 loss</a:t>
            </a:r>
          </a:p>
          <a:p>
            <a:pPr algn="l">
              <a:lnSpc>
                <a:spcPct val="98000"/>
              </a:lnSpc>
              <a:spcAft>
                <a:spcPts val="600"/>
              </a:spcAft>
            </a:pPr>
            <a:r>
              <a:rPr sz="1200" b="0">
                <a:solidFill>
                  <a:srgbClr val="5A6375"/>
                </a:solidFill>
                <a:latin typeface="Arial"/>
              </a:rPr>
              <a:t>6.  Cập nhật Decoder bằng Adam</a:t>
            </a:r>
          </a:p>
          <a:p>
            <a:pPr algn="l">
              <a:lnSpc>
                <a:spcPct val="98000"/>
              </a:lnSpc>
              <a:spcAft>
                <a:spcPts val="600"/>
              </a:spcAft>
            </a:pPr>
            <a:r>
              <a:rPr sz="1200" b="1">
                <a:solidFill>
                  <a:srgbClr val="101B33"/>
                </a:solidFill>
                <a:latin typeface="Arial"/>
              </a:rPr>
              <a:t>Ghép cặp NGẪU NHIÊN mỗi bước ⇒ decoder học tái</a:t>
            </a:r>
          </a:p>
          <a:p>
            <a:pPr algn="l">
              <a:lnSpc>
                <a:spcPct val="98000"/>
              </a:lnSpc>
              <a:spcAft>
                <a:spcPts val="600"/>
              </a:spcAft>
            </a:pPr>
            <a:r>
              <a:rPr sz="1200" b="1">
                <a:solidFill>
                  <a:srgbClr val="101B33"/>
                </a:solidFill>
                <a:latin typeface="Arial"/>
              </a:rPr>
              <a:t>tạo cho MỌI phong cách ⇒ thời tiết mới chỉ cần đưa</a:t>
            </a:r>
          </a:p>
          <a:p>
            <a:pPr algn="l">
              <a:lnSpc>
                <a:spcPct val="98000"/>
              </a:lnSpc>
              <a:spcAft>
                <a:spcPts val="600"/>
              </a:spcAft>
            </a:pPr>
            <a:r>
              <a:rPr sz="1200" b="1">
                <a:solidFill>
                  <a:srgbClr val="101B33"/>
                </a:solidFill>
                <a:latin typeface="Arial"/>
              </a:rPr>
              <a:t>ảnh tham chiếu vào, KHÔNG phải huấn luyện lại.</a:t>
            </a:r>
          </a:p>
        </p:txBody>
      </p:sp>
      <p:sp>
        <p:nvSpPr>
          <p:cNvPr id="12" name="Rectangle 11"/>
          <p:cNvSpPr/>
          <p:nvPr/>
        </p:nvSpPr>
        <p:spPr>
          <a:xfrm>
            <a:off x="640080" y="4864608"/>
            <a:ext cx="1088136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928616"/>
            <a:ext cx="1568484"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Thành phần</a:t>
            </a:r>
          </a:p>
        </p:txBody>
      </p:sp>
      <p:sp>
        <p:nvSpPr>
          <p:cNvPr id="14" name="TextBox 13"/>
          <p:cNvSpPr txBox="1"/>
          <p:nvPr/>
        </p:nvSpPr>
        <p:spPr>
          <a:xfrm>
            <a:off x="2318292" y="4928616"/>
            <a:ext cx="4509392"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Giá trị</a:t>
            </a:r>
          </a:p>
        </p:txBody>
      </p:sp>
      <p:sp>
        <p:nvSpPr>
          <p:cNvPr id="15" name="TextBox 14"/>
          <p:cNvSpPr txBox="1"/>
          <p:nvPr/>
        </p:nvSpPr>
        <p:spPr>
          <a:xfrm>
            <a:off x="6827684" y="4928616"/>
            <a:ext cx="1862575"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Thành phần</a:t>
            </a:r>
          </a:p>
        </p:txBody>
      </p:sp>
      <p:sp>
        <p:nvSpPr>
          <p:cNvPr id="16" name="TextBox 15"/>
          <p:cNvSpPr txBox="1"/>
          <p:nvPr/>
        </p:nvSpPr>
        <p:spPr>
          <a:xfrm>
            <a:off x="8690259" y="4928616"/>
            <a:ext cx="2940908"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Giá trị</a:t>
            </a:r>
          </a:p>
        </p:txBody>
      </p:sp>
      <p:sp>
        <p:nvSpPr>
          <p:cNvPr id="17" name="Rectangle 16"/>
          <p:cNvSpPr/>
          <p:nvPr/>
        </p:nvSpPr>
        <p:spPr>
          <a:xfrm>
            <a:off x="640080" y="5248656"/>
            <a:ext cx="1088136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312664"/>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Encoder</a:t>
            </a:r>
          </a:p>
        </p:txBody>
      </p:sp>
      <p:sp>
        <p:nvSpPr>
          <p:cNvPr id="19" name="TextBox 18"/>
          <p:cNvSpPr txBox="1"/>
          <p:nvPr/>
        </p:nvSpPr>
        <p:spPr>
          <a:xfrm>
            <a:off x="2318292" y="5312664"/>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VGG-19 pretrain, đóng băng — 0 tham số học</a:t>
            </a:r>
          </a:p>
        </p:txBody>
      </p:sp>
      <p:sp>
        <p:nvSpPr>
          <p:cNvPr id="20" name="TextBox 19"/>
          <p:cNvSpPr txBox="1"/>
          <p:nvPr/>
        </p:nvSpPr>
        <p:spPr>
          <a:xfrm>
            <a:off x="6827684" y="5312664"/>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Batch / số bước</a:t>
            </a:r>
          </a:p>
        </p:txBody>
      </p:sp>
      <p:sp>
        <p:nvSpPr>
          <p:cNvPr id="21" name="TextBox 20"/>
          <p:cNvSpPr txBox="1"/>
          <p:nvPr/>
        </p:nvSpPr>
        <p:spPr>
          <a:xfrm>
            <a:off x="8690259" y="5312664"/>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8 / 12.000</a:t>
            </a:r>
          </a:p>
        </p:txBody>
      </p:sp>
      <p:sp>
        <p:nvSpPr>
          <p:cNvPr id="22" name="Rectangle 21"/>
          <p:cNvSpPr/>
          <p:nvPr/>
        </p:nvSpPr>
        <p:spPr>
          <a:xfrm>
            <a:off x="640080" y="5632704"/>
            <a:ext cx="108813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5696712"/>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Decoder</a:t>
            </a:r>
          </a:p>
        </p:txBody>
      </p:sp>
      <p:sp>
        <p:nvSpPr>
          <p:cNvPr id="24" name="TextBox 23"/>
          <p:cNvSpPr txBox="1"/>
          <p:nvPr/>
        </p:nvSpPr>
        <p:spPr>
          <a:xfrm>
            <a:off x="2318292" y="5696712"/>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3,51 M tham số — DUY NHẤT được học</a:t>
            </a:r>
          </a:p>
        </p:txBody>
      </p:sp>
      <p:sp>
        <p:nvSpPr>
          <p:cNvPr id="25" name="TextBox 24"/>
          <p:cNvSpPr txBox="1"/>
          <p:nvPr/>
        </p:nvSpPr>
        <p:spPr>
          <a:xfrm>
            <a:off x="6827684" y="5696712"/>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Optimizer</a:t>
            </a:r>
          </a:p>
        </p:txBody>
      </p:sp>
      <p:sp>
        <p:nvSpPr>
          <p:cNvPr id="26" name="TextBox 25"/>
          <p:cNvSpPr txBox="1"/>
          <p:nvPr/>
        </p:nvSpPr>
        <p:spPr>
          <a:xfrm>
            <a:off x="8690259" y="5696712"/>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Adam, lr 1e-4, decay 5e-5</a:t>
            </a:r>
          </a:p>
        </p:txBody>
      </p:sp>
      <p:sp>
        <p:nvSpPr>
          <p:cNvPr id="27" name="Rectangle 26"/>
          <p:cNvSpPr/>
          <p:nvPr/>
        </p:nvSpPr>
        <p:spPr>
          <a:xfrm>
            <a:off x="640080" y="6016752"/>
            <a:ext cx="1088136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6080760"/>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Dữ liệu</a:t>
            </a:r>
          </a:p>
        </p:txBody>
      </p:sp>
      <p:sp>
        <p:nvSpPr>
          <p:cNvPr id="29" name="TextBox 28"/>
          <p:cNvSpPr txBox="1"/>
          <p:nvPr/>
        </p:nvSpPr>
        <p:spPr>
          <a:xfrm>
            <a:off x="2318292" y="6080760"/>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2.160 ảnh nội dung × 1.327 ảnh tham chiếu</a:t>
            </a:r>
          </a:p>
        </p:txBody>
      </p:sp>
      <p:sp>
        <p:nvSpPr>
          <p:cNvPr id="30" name="TextBox 29"/>
          <p:cNvSpPr txBox="1"/>
          <p:nvPr/>
        </p:nvSpPr>
        <p:spPr>
          <a:xfrm>
            <a:off x="6827684" y="6080760"/>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gian</a:t>
            </a:r>
          </a:p>
        </p:txBody>
      </p:sp>
      <p:sp>
        <p:nvSpPr>
          <p:cNvPr id="31" name="TextBox 30"/>
          <p:cNvSpPr txBox="1"/>
          <p:nvPr/>
        </p:nvSpPr>
        <p:spPr>
          <a:xfrm>
            <a:off x="8690259" y="6080760"/>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37 phút (RTX 5060 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Hàm mất mát</a:t>
            </a:r>
          </a:p>
          <a:p>
            <a:pPr algn="l">
              <a:lnSpc>
                <a:spcPct val="115000"/>
              </a:lnSpc>
              <a:spcAft>
                <a:spcPts val="600"/>
              </a:spcAft>
            </a:pPr>
            <a:r>
              <a:rPr sz="1300" b="0">
                <a:solidFill>
                  <a:srgbClr val="B6C2D9"/>
                </a:solidFill>
                <a:latin typeface="Arial"/>
              </a:rPr>
              <a:t>Ba thành phần, mỗi thành phần giữ một thứ khác nhau</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7</a:t>
            </a:r>
          </a:p>
        </p:txBody>
      </p:sp>
      <p:sp>
        <p:nvSpPr>
          <p:cNvPr id="6" name="Rectangle 5"/>
          <p:cNvSpPr/>
          <p:nvPr/>
        </p:nvSpPr>
        <p:spPr>
          <a:xfrm>
            <a:off x="640080" y="1188720"/>
            <a:ext cx="10881360" cy="86868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881360" cy="640080"/>
          </a:xfrm>
          <a:prstGeom prst="rect">
            <a:avLst/>
          </a:prstGeom>
          <a:noFill/>
        </p:spPr>
        <p:txBody>
          <a:bodyPr wrap="square" lIns="0" rIns="0">
            <a:spAutoFit/>
          </a:bodyPr>
          <a:lstStyle/>
          <a:p>
            <a:pPr algn="ctr">
              <a:lnSpc>
                <a:spcPct val="115000"/>
              </a:lnSpc>
              <a:spcAft>
                <a:spcPts val="600"/>
              </a:spcAft>
            </a:pPr>
            <a:r>
              <a:rPr sz="2600" b="1">
                <a:solidFill>
                  <a:srgbClr val="18A099"/>
                </a:solidFill>
                <a:latin typeface="Arial"/>
              </a:rPr>
              <a:t>L  =  L_content  +  10 · L_style  +  1 · L_identity</a:t>
            </a:r>
          </a:p>
        </p:txBody>
      </p:sp>
      <p:sp>
        <p:nvSpPr>
          <p:cNvPr id="8" name="Rectangle 7"/>
          <p:cNvSpPr/>
          <p:nvPr/>
        </p:nvSpPr>
        <p:spPr>
          <a:xfrm>
            <a:off x="64008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3291840" cy="73152"/>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① L_content</a:t>
            </a:r>
          </a:p>
          <a:p>
            <a:pPr algn="l">
              <a:lnSpc>
                <a:spcPct val="108000"/>
              </a:lnSpc>
              <a:spcAft>
                <a:spcPts val="600"/>
              </a:spcAft>
            </a:pPr>
            <a:r>
              <a:rPr sz="1300" b="1">
                <a:solidFill>
                  <a:srgbClr val="2E6FD9"/>
                </a:solidFill>
                <a:latin typeface="Arial"/>
              </a:rPr>
              <a:t>MSE( VGG(ảnh_ra) , t )</a:t>
            </a:r>
          </a:p>
          <a:p>
            <a:pPr algn="l">
              <a:lnSpc>
                <a:spcPct val="108000"/>
              </a:lnSpc>
              <a:spcAft>
                <a:spcPts val="600"/>
              </a:spcAft>
            </a:pPr>
            <a:r>
              <a:rPr sz="1200" b="0">
                <a:solidFill>
                  <a:srgbClr val="5A6375"/>
                </a:solidFill>
                <a:latin typeface="Arial"/>
              </a:rPr>
              <a:t>Ép ảnh ra có đặc trưng đúng bằng t = AdaIN(c,s). Decoder vẽ sai vị trí xe là loss tăng ngay.</a:t>
            </a:r>
          </a:p>
          <a:p>
            <a:pPr algn="l">
              <a:lnSpc>
                <a:spcPct val="108000"/>
              </a:lnSpc>
              <a:spcAft>
                <a:spcPts val="600"/>
              </a:spcAft>
            </a:pPr>
            <a:r>
              <a:rPr sz="1200" b="1">
                <a:solidFill>
                  <a:srgbClr val="101B33"/>
                </a:solidFill>
                <a:latin typeface="Arial"/>
              </a:rPr>
              <a:t>→ GIỮ BỐ CỤC CẢNH</a:t>
            </a:r>
          </a:p>
        </p:txBody>
      </p:sp>
      <p:sp>
        <p:nvSpPr>
          <p:cNvPr id="11" name="Rectangle 10"/>
          <p:cNvSpPr/>
          <p:nvPr/>
        </p:nvSpPr>
        <p:spPr>
          <a:xfrm>
            <a:off x="443484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4840" y="2286000"/>
            <a:ext cx="3291840" cy="73152"/>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② L_style</a:t>
            </a:r>
          </a:p>
          <a:p>
            <a:pPr algn="l">
              <a:lnSpc>
                <a:spcPct val="108000"/>
              </a:lnSpc>
              <a:spcAft>
                <a:spcPts val="600"/>
              </a:spcAft>
            </a:pPr>
            <a:r>
              <a:rPr sz="1300" b="1">
                <a:solidFill>
                  <a:srgbClr val="E48A2E"/>
                </a:solidFill>
                <a:latin typeface="Arial"/>
              </a:rPr>
              <a:t>Σ MSE(μ, σ) qua 4 tầng VGG</a:t>
            </a:r>
          </a:p>
          <a:p>
            <a:pPr algn="l">
              <a:lnSpc>
                <a:spcPct val="108000"/>
              </a:lnSpc>
              <a:spcAft>
                <a:spcPts val="600"/>
              </a:spcAft>
            </a:pPr>
            <a:r>
              <a:rPr sz="1200" b="0">
                <a:solidFill>
                  <a:srgbClr val="5A6375"/>
                </a:solidFill>
                <a:latin typeface="Arial"/>
              </a:rPr>
              <a:t>Chỉ so trung bình và độ lệch chuẩn, KHÔNG so từng điểm ảnh — vì phong cách nằm ở thống kê.</a:t>
            </a:r>
          </a:p>
          <a:p>
            <a:pPr algn="l">
              <a:lnSpc>
                <a:spcPct val="108000"/>
              </a:lnSpc>
              <a:spcAft>
                <a:spcPts val="600"/>
              </a:spcAft>
            </a:pPr>
            <a:r>
              <a:rPr sz="1200" b="1">
                <a:solidFill>
                  <a:srgbClr val="101B33"/>
                </a:solidFill>
                <a:latin typeface="Arial"/>
              </a:rPr>
              <a:t>→ GIỐNG TÔNG THỜI TIẾT</a:t>
            </a:r>
          </a:p>
        </p:txBody>
      </p:sp>
      <p:sp>
        <p:nvSpPr>
          <p:cNvPr id="14" name="Rectangle 13"/>
          <p:cNvSpPr/>
          <p:nvPr/>
        </p:nvSpPr>
        <p:spPr>
          <a:xfrm>
            <a:off x="822960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2286000"/>
            <a:ext cx="3291840" cy="7315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3076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③ L_identity</a:t>
            </a:r>
          </a:p>
          <a:p>
            <a:pPr algn="l">
              <a:lnSpc>
                <a:spcPct val="108000"/>
              </a:lnSpc>
              <a:spcAft>
                <a:spcPts val="600"/>
              </a:spcAft>
            </a:pPr>
            <a:r>
              <a:rPr sz="1300" b="1">
                <a:solidFill>
                  <a:srgbClr val="18A099"/>
                </a:solidFill>
                <a:latin typeface="Arial"/>
              </a:rPr>
              <a:t>MSE( Decoder(VGG(c)) , c )</a:t>
            </a:r>
          </a:p>
          <a:p>
            <a:pPr algn="l">
              <a:lnSpc>
                <a:spcPct val="108000"/>
              </a:lnSpc>
              <a:spcAft>
                <a:spcPts val="600"/>
              </a:spcAft>
            </a:pPr>
            <a:r>
              <a:rPr sz="1200" b="0">
                <a:solidFill>
                  <a:srgbClr val="5A6375"/>
                </a:solidFill>
                <a:latin typeface="Arial"/>
              </a:rPr>
              <a:t>Nếu style = content thì đầu ra PHẢI bằng đúng ảnh gốc. Điểm nhóm bổ sung so với bài báo gốc.</a:t>
            </a:r>
          </a:p>
          <a:p>
            <a:pPr algn="l">
              <a:lnSpc>
                <a:spcPct val="108000"/>
              </a:lnSpc>
              <a:spcAft>
                <a:spcPts val="600"/>
              </a:spcAft>
            </a:pPr>
            <a:r>
              <a:rPr sz="1200" b="1">
                <a:solidFill>
                  <a:srgbClr val="101B33"/>
                </a:solidFill>
                <a:latin typeface="Arial"/>
              </a:rPr>
              <a:t>→ GIỮ CẤU TRÚC, nhãn còn dùng được</a:t>
            </a:r>
          </a:p>
        </p:txBody>
      </p:sp>
      <p:sp>
        <p:nvSpPr>
          <p:cNvPr id="17" name="TextBox 16"/>
          <p:cNvSpPr txBox="1"/>
          <p:nvPr/>
        </p:nvSpPr>
        <p:spPr>
          <a:xfrm>
            <a:off x="640080" y="4846320"/>
            <a:ext cx="10881360" cy="36576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Đường cong huấn luyện thực tế — loss giảm mạnh 3.000 bước đầu rồi đi ngang; từ bước 10.000 chỉ còn giảm ~1% mỗi 1.000 bước ⇒ dừng ở 12.000 bước.</a:t>
            </a:r>
          </a:p>
        </p:txBody>
      </p:sp>
      <p:pic>
        <p:nvPicPr>
          <p:cNvPr id="18" name="Picture 17" descr="fig_loss.png"/>
          <p:cNvPicPr>
            <a:picLocks noChangeAspect="1"/>
          </p:cNvPicPr>
          <p:nvPr/>
        </p:nvPicPr>
        <p:blipFill>
          <a:blip r:embed="rId2"/>
          <a:stretch>
            <a:fillRect/>
          </a:stretch>
        </p:blipFill>
        <p:spPr>
          <a:xfrm>
            <a:off x="3382742" y="5230368"/>
            <a:ext cx="5396035" cy="1371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5 loại thời tiết</a:t>
            </a:r>
          </a:p>
          <a:p>
            <a:pPr algn="l">
              <a:lnSpc>
                <a:spcPct val="115000"/>
              </a:lnSpc>
              <a:spcAft>
                <a:spcPts val="600"/>
              </a:spcAft>
            </a:pPr>
            <a:r>
              <a:rPr sz="1300" b="0">
                <a:solidFill>
                  <a:srgbClr val="B6C2D9"/>
                </a:solidFill>
                <a:latin typeface="Arial"/>
              </a:rPr>
              <a:t>Cùng một ảnh gốc, đổi ảnh tham chiếu là đổi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8</a:t>
            </a:r>
          </a:p>
        </p:txBody>
      </p:sp>
      <p:pic>
        <p:nvPicPr>
          <p:cNvPr id="6" name="Picture 5" descr="fig_weather_types.jpg"/>
          <p:cNvPicPr>
            <a:picLocks noChangeAspect="1"/>
          </p:cNvPicPr>
          <p:nvPr/>
        </p:nvPicPr>
        <p:blipFill>
          <a:blip r:embed="rId2"/>
          <a:stretch>
            <a:fillRect/>
          </a:stretch>
        </p:blipFill>
        <p:spPr>
          <a:xfrm>
            <a:off x="457200" y="2208193"/>
            <a:ext cx="11247120" cy="317313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ví dụ đầu vào/đầu ra</a:t>
            </a:r>
          </a:p>
          <a:p>
            <a:pPr algn="l">
              <a:lnSpc>
                <a:spcPct val="115000"/>
              </a:lnSpc>
              <a:spcAft>
                <a:spcPts val="600"/>
              </a:spcAft>
            </a:pPr>
            <a:r>
              <a:rPr sz="1300" b="0">
                <a:solidFill>
                  <a:srgbClr val="B6C2D9"/>
                </a:solidFill>
                <a:latin typeface="Arial"/>
              </a:rPr>
              <a:t>Trái: 2 đầu vào · Phải: ảnh sinh ra</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9</a:t>
            </a:r>
          </a:p>
        </p:txBody>
      </p:sp>
      <p:pic>
        <p:nvPicPr>
          <p:cNvPr id="6" name="Picture 5" descr="fig_examples.jpg"/>
          <p:cNvPicPr>
            <a:picLocks noChangeAspect="1"/>
          </p:cNvPicPr>
          <p:nvPr/>
        </p:nvPicPr>
        <p:blipFill>
          <a:blip r:embed="rId2"/>
          <a:stretch>
            <a:fillRect/>
          </a:stretch>
        </p:blipFill>
        <p:spPr>
          <a:xfrm>
            <a:off x="2407987" y="1234440"/>
            <a:ext cx="7345546" cy="512063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Đóng góp của từng khối (ablation)</a:t>
            </a:r>
          </a:p>
          <a:p>
            <a:pPr algn="l">
              <a:lnSpc>
                <a:spcPct val="115000"/>
              </a:lnSpc>
              <a:spcAft>
                <a:spcPts val="600"/>
              </a:spcAft>
            </a:pPr>
            <a:r>
              <a:rPr sz="1300" b="0">
                <a:solidFill>
                  <a:srgbClr val="B6C2D9"/>
                </a:solidFill>
                <a:latin typeface="Arial"/>
              </a:rPr>
              <a:t>Từ trái sang phải: thêm dần từng thành phần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10</a:t>
            </a:r>
          </a:p>
        </p:txBody>
      </p:sp>
      <p:pic>
        <p:nvPicPr>
          <p:cNvPr id="6" name="Picture 5" descr="fig_ablation.jpg"/>
          <p:cNvPicPr>
            <a:picLocks noChangeAspect="1"/>
          </p:cNvPicPr>
          <p:nvPr/>
        </p:nvPicPr>
        <p:blipFill>
          <a:blip r:embed="rId2"/>
          <a:stretch>
            <a:fillRect/>
          </a:stretch>
        </p:blipFill>
        <p:spPr>
          <a:xfrm>
            <a:off x="457200" y="1920240"/>
            <a:ext cx="11247120" cy="3749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Bằng chứng: nhãn cũ vẫn khớp</a:t>
            </a:r>
          </a:p>
          <a:p>
            <a:pPr algn="l">
              <a:lnSpc>
                <a:spcPct val="115000"/>
              </a:lnSpc>
              <a:spcAft>
                <a:spcPts val="600"/>
              </a:spcAft>
            </a:pPr>
            <a:r>
              <a:rPr sz="1300" b="0">
                <a:solidFill>
                  <a:srgbClr val="B6C2D9"/>
                </a:solidFill>
                <a:latin typeface="Arial"/>
              </a:rPr>
              <a:t>Cùng một bộ bounding box vẽ lên ảnh gốc và ảnh tăng cường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11</a:t>
            </a:r>
          </a:p>
        </p:txBody>
      </p:sp>
      <p:pic>
        <p:nvPicPr>
          <p:cNvPr id="6" name="Picture 5" descr="fig_labels.jpg"/>
          <p:cNvPicPr>
            <a:picLocks noChangeAspect="1"/>
          </p:cNvPicPr>
          <p:nvPr/>
        </p:nvPicPr>
        <p:blipFill>
          <a:blip r:embed="rId2"/>
          <a:stretch>
            <a:fillRect/>
          </a:stretch>
        </p:blipFill>
        <p:spPr>
          <a:xfrm>
            <a:off x="3183267" y="1188720"/>
            <a:ext cx="5794985" cy="4480560"/>
          </a:xfrm>
          <a:prstGeom prst="rect">
            <a:avLst/>
          </a:prstGeom>
        </p:spPr>
      </p:pic>
      <p:sp>
        <p:nvSpPr>
          <p:cNvPr id="7" name="TextBox 6"/>
          <p:cNvSpPr txBox="1"/>
          <p:nvPr/>
        </p:nvSpPr>
        <p:spPr>
          <a:xfrm>
            <a:off x="640080" y="5806440"/>
            <a:ext cx="10881360" cy="73152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Không cần gán nhãn lại: mỗi ảnh sinh ra chỉ việc sao chép file nhãn của ảnh gốc.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Đánh giá định lượng</a:t>
            </a:r>
          </a:p>
          <a:p>
            <a:pPr algn="l">
              <a:lnSpc>
                <a:spcPct val="115000"/>
              </a:lnSpc>
              <a:spcAft>
                <a:spcPts val="600"/>
              </a:spcAft>
            </a:pPr>
            <a:r>
              <a:rPr sz="1300" b="0">
                <a:solidFill>
                  <a:srgbClr val="B6C2D9"/>
                </a:solidFill>
                <a:latin typeface="Arial"/>
              </a:rPr>
              <a:t>Giữ nội dung (SSIM/EdgeRecall) và giống thật (FID)</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12</a:t>
            </a:r>
          </a:p>
        </p:txBody>
      </p:sp>
      <p:sp>
        <p:nvSpPr>
          <p:cNvPr id="6" name="Rectangle 5"/>
          <p:cNvSpPr/>
          <p:nvPr/>
        </p:nvSpPr>
        <p:spPr>
          <a:xfrm>
            <a:off x="640080" y="1234440"/>
            <a:ext cx="10881360" cy="420624"/>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298448"/>
            <a:ext cx="384048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Phương pháp</a:t>
            </a:r>
          </a:p>
        </p:txBody>
      </p:sp>
      <p:sp>
        <p:nvSpPr>
          <p:cNvPr id="8" name="TextBox 7"/>
          <p:cNvSpPr txBox="1"/>
          <p:nvPr/>
        </p:nvSpPr>
        <p:spPr>
          <a:xfrm>
            <a:off x="459028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SSIM ↑</a:t>
            </a:r>
          </a:p>
        </p:txBody>
      </p:sp>
      <p:sp>
        <p:nvSpPr>
          <p:cNvPr id="9" name="TextBox 8"/>
          <p:cNvSpPr txBox="1"/>
          <p:nvPr/>
        </p:nvSpPr>
        <p:spPr>
          <a:xfrm>
            <a:off x="632764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PSNR ↑</a:t>
            </a:r>
          </a:p>
        </p:txBody>
      </p:sp>
      <p:sp>
        <p:nvSpPr>
          <p:cNvPr id="10" name="TextBox 9"/>
          <p:cNvSpPr txBox="1"/>
          <p:nvPr/>
        </p:nvSpPr>
        <p:spPr>
          <a:xfrm>
            <a:off x="8065008" y="1298448"/>
            <a:ext cx="182880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EdgeRec ↑</a:t>
            </a:r>
          </a:p>
        </p:txBody>
      </p:sp>
      <p:sp>
        <p:nvSpPr>
          <p:cNvPr id="11" name="TextBox 10"/>
          <p:cNvSpPr txBox="1"/>
          <p:nvPr/>
        </p:nvSpPr>
        <p:spPr>
          <a:xfrm>
            <a:off x="989380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FID ↓</a:t>
            </a:r>
          </a:p>
        </p:txBody>
      </p:sp>
      <p:sp>
        <p:nvSpPr>
          <p:cNvPr id="12" name="Rectangle 11"/>
          <p:cNvSpPr/>
          <p:nvPr/>
        </p:nvSpPr>
        <p:spPr>
          <a:xfrm>
            <a:off x="640080" y="1655064"/>
            <a:ext cx="10881360" cy="42062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719072"/>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Không tăng cường (mốc domain gap)</a:t>
            </a:r>
          </a:p>
        </p:txBody>
      </p:sp>
      <p:sp>
        <p:nvSpPr>
          <p:cNvPr id="14" name="TextBox 13"/>
          <p:cNvSpPr txBox="1"/>
          <p:nvPr/>
        </p:nvSpPr>
        <p:spPr>
          <a:xfrm>
            <a:off x="459028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5" name="TextBox 14"/>
          <p:cNvSpPr txBox="1"/>
          <p:nvPr/>
        </p:nvSpPr>
        <p:spPr>
          <a:xfrm>
            <a:off x="632764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6" name="TextBox 15"/>
          <p:cNvSpPr txBox="1"/>
          <p:nvPr/>
        </p:nvSpPr>
        <p:spPr>
          <a:xfrm>
            <a:off x="8065008" y="1719072"/>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7" name="TextBox 16"/>
          <p:cNvSpPr txBox="1"/>
          <p:nvPr/>
        </p:nvSpPr>
        <p:spPr>
          <a:xfrm>
            <a:off x="989380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99.40</a:t>
            </a:r>
          </a:p>
        </p:txBody>
      </p:sp>
      <p:sp>
        <p:nvSpPr>
          <p:cNvPr id="18" name="Rectangle 17"/>
          <p:cNvSpPr/>
          <p:nvPr/>
        </p:nvSpPr>
        <p:spPr>
          <a:xfrm>
            <a:off x="640080" y="2075688"/>
            <a:ext cx="108813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139696"/>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Baseline vật lý</a:t>
            </a:r>
          </a:p>
        </p:txBody>
      </p:sp>
      <p:sp>
        <p:nvSpPr>
          <p:cNvPr id="20" name="TextBox 19"/>
          <p:cNvSpPr txBox="1"/>
          <p:nvPr/>
        </p:nvSpPr>
        <p:spPr>
          <a:xfrm>
            <a:off x="459028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0.6076</a:t>
            </a:r>
          </a:p>
        </p:txBody>
      </p:sp>
      <p:sp>
        <p:nvSpPr>
          <p:cNvPr id="21" name="TextBox 20"/>
          <p:cNvSpPr txBox="1"/>
          <p:nvPr/>
        </p:nvSpPr>
        <p:spPr>
          <a:xfrm>
            <a:off x="632764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13.32</a:t>
            </a:r>
          </a:p>
        </p:txBody>
      </p:sp>
      <p:sp>
        <p:nvSpPr>
          <p:cNvPr id="22" name="TextBox 21"/>
          <p:cNvSpPr txBox="1"/>
          <p:nvPr/>
        </p:nvSpPr>
        <p:spPr>
          <a:xfrm>
            <a:off x="8065008" y="2139696"/>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0.5092</a:t>
            </a:r>
          </a:p>
        </p:txBody>
      </p:sp>
      <p:sp>
        <p:nvSpPr>
          <p:cNvPr id="23" name="TextBox 22"/>
          <p:cNvSpPr txBox="1"/>
          <p:nvPr/>
        </p:nvSpPr>
        <p:spPr>
          <a:xfrm>
            <a:off x="989380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177.03</a:t>
            </a:r>
          </a:p>
        </p:txBody>
      </p:sp>
      <p:sp>
        <p:nvSpPr>
          <p:cNvPr id="24" name="Rectangle 23"/>
          <p:cNvSpPr/>
          <p:nvPr/>
        </p:nvSpPr>
        <p:spPr>
          <a:xfrm>
            <a:off x="640080" y="2496312"/>
            <a:ext cx="10881360" cy="42062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560320"/>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AdaIN</a:t>
            </a:r>
          </a:p>
        </p:txBody>
      </p:sp>
      <p:sp>
        <p:nvSpPr>
          <p:cNvPr id="26" name="TextBox 25"/>
          <p:cNvSpPr txBox="1"/>
          <p:nvPr/>
        </p:nvSpPr>
        <p:spPr>
          <a:xfrm>
            <a:off x="459028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0.4521</a:t>
            </a:r>
          </a:p>
        </p:txBody>
      </p:sp>
      <p:sp>
        <p:nvSpPr>
          <p:cNvPr id="27" name="TextBox 26"/>
          <p:cNvSpPr txBox="1"/>
          <p:nvPr/>
        </p:nvSpPr>
        <p:spPr>
          <a:xfrm>
            <a:off x="632764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14.13</a:t>
            </a:r>
          </a:p>
        </p:txBody>
      </p:sp>
      <p:sp>
        <p:nvSpPr>
          <p:cNvPr id="28" name="TextBox 27"/>
          <p:cNvSpPr txBox="1"/>
          <p:nvPr/>
        </p:nvSpPr>
        <p:spPr>
          <a:xfrm>
            <a:off x="8065008" y="2560320"/>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0.6073</a:t>
            </a:r>
          </a:p>
        </p:txBody>
      </p:sp>
      <p:sp>
        <p:nvSpPr>
          <p:cNvPr id="29" name="TextBox 28"/>
          <p:cNvSpPr txBox="1"/>
          <p:nvPr/>
        </p:nvSpPr>
        <p:spPr>
          <a:xfrm>
            <a:off x="989380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125.85</a:t>
            </a:r>
          </a:p>
        </p:txBody>
      </p:sp>
      <p:sp>
        <p:nvSpPr>
          <p:cNvPr id="30" name="Rectangle 29"/>
          <p:cNvSpPr/>
          <p:nvPr/>
        </p:nvSpPr>
        <p:spPr>
          <a:xfrm>
            <a:off x="640080" y="2916936"/>
            <a:ext cx="108813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2980944"/>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AdaIN + GF + hạt (đề xuất)</a:t>
            </a:r>
          </a:p>
        </p:txBody>
      </p:sp>
      <p:sp>
        <p:nvSpPr>
          <p:cNvPr id="32" name="TextBox 31"/>
          <p:cNvSpPr txBox="1"/>
          <p:nvPr/>
        </p:nvSpPr>
        <p:spPr>
          <a:xfrm>
            <a:off x="459028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0.6100</a:t>
            </a:r>
          </a:p>
        </p:txBody>
      </p:sp>
      <p:sp>
        <p:nvSpPr>
          <p:cNvPr id="33" name="TextBox 32"/>
          <p:cNvSpPr txBox="1"/>
          <p:nvPr/>
        </p:nvSpPr>
        <p:spPr>
          <a:xfrm>
            <a:off x="632764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14.61</a:t>
            </a:r>
          </a:p>
        </p:txBody>
      </p:sp>
      <p:sp>
        <p:nvSpPr>
          <p:cNvPr id="34" name="TextBox 33"/>
          <p:cNvSpPr txBox="1"/>
          <p:nvPr/>
        </p:nvSpPr>
        <p:spPr>
          <a:xfrm>
            <a:off x="8065008" y="2980944"/>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0.4997</a:t>
            </a:r>
          </a:p>
        </p:txBody>
      </p:sp>
      <p:sp>
        <p:nvSpPr>
          <p:cNvPr id="35" name="TextBox 34"/>
          <p:cNvSpPr txBox="1"/>
          <p:nvPr/>
        </p:nvSpPr>
        <p:spPr>
          <a:xfrm>
            <a:off x="989380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164.38</a:t>
            </a:r>
          </a:p>
        </p:txBody>
      </p:sp>
      <p:sp>
        <p:nvSpPr>
          <p:cNvPr id="36" name="Rectangle 35"/>
          <p:cNvSpPr/>
          <p:nvPr/>
        </p:nvSpPr>
        <p:spPr>
          <a:xfrm>
            <a:off x="640080" y="3657600"/>
            <a:ext cx="10881360" cy="402336"/>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3721608"/>
            <a:ext cx="155448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Chỉ số</a:t>
            </a:r>
          </a:p>
        </p:txBody>
      </p:sp>
      <p:sp>
        <p:nvSpPr>
          <p:cNvPr id="38" name="TextBox 37"/>
          <p:cNvSpPr txBox="1"/>
          <p:nvPr/>
        </p:nvSpPr>
        <p:spPr>
          <a:xfrm>
            <a:off x="2304288" y="3721608"/>
            <a:ext cx="530352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Cách tính</a:t>
            </a:r>
          </a:p>
        </p:txBody>
      </p:sp>
      <p:sp>
        <p:nvSpPr>
          <p:cNvPr id="39" name="TextBox 38"/>
          <p:cNvSpPr txBox="1"/>
          <p:nvPr/>
        </p:nvSpPr>
        <p:spPr>
          <a:xfrm>
            <a:off x="7607808" y="3721608"/>
            <a:ext cx="402336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Trả lời câu hỏi gì</a:t>
            </a:r>
          </a:p>
        </p:txBody>
      </p:sp>
      <p:sp>
        <p:nvSpPr>
          <p:cNvPr id="40" name="Rectangle 39"/>
          <p:cNvSpPr/>
          <p:nvPr/>
        </p:nvSpPr>
        <p:spPr>
          <a:xfrm>
            <a:off x="640080" y="4059936"/>
            <a:ext cx="10881360" cy="402336"/>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123944"/>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SSIM ↑</a:t>
            </a:r>
          </a:p>
        </p:txBody>
      </p:sp>
      <p:sp>
        <p:nvSpPr>
          <p:cNvPr id="42" name="TextBox 41"/>
          <p:cNvSpPr txBox="1"/>
          <p:nvPr/>
        </p:nvSpPr>
        <p:spPr>
          <a:xfrm>
            <a:off x="2304288" y="4123944"/>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So cấu trúc cục bộ giữa ảnh gốc và ảnh sinh ra</a:t>
            </a:r>
          </a:p>
        </p:txBody>
      </p:sp>
      <p:sp>
        <p:nvSpPr>
          <p:cNvPr id="43" name="TextBox 42"/>
          <p:cNvSpPr txBox="1"/>
          <p:nvPr/>
        </p:nvSpPr>
        <p:spPr>
          <a:xfrm>
            <a:off x="7607808" y="4123944"/>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có giữ nội dung không?</a:t>
            </a:r>
          </a:p>
        </p:txBody>
      </p:sp>
      <p:sp>
        <p:nvSpPr>
          <p:cNvPr id="44" name="Rectangle 43"/>
          <p:cNvSpPr/>
          <p:nvPr/>
        </p:nvSpPr>
        <p:spPr>
          <a:xfrm>
            <a:off x="640080" y="4462272"/>
            <a:ext cx="10881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4526280"/>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PSNR ↑</a:t>
            </a:r>
          </a:p>
        </p:txBody>
      </p:sp>
      <p:sp>
        <p:nvSpPr>
          <p:cNvPr id="46" name="TextBox 45"/>
          <p:cNvSpPr txBox="1"/>
          <p:nvPr/>
        </p:nvSpPr>
        <p:spPr>
          <a:xfrm>
            <a:off x="2304288" y="4526280"/>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10·log₁₀(255² / MSE) — sai lệch theo từng điểm ảnh</a:t>
            </a:r>
          </a:p>
        </p:txBody>
      </p:sp>
      <p:sp>
        <p:nvSpPr>
          <p:cNvPr id="47" name="TextBox 46"/>
          <p:cNvSpPr txBox="1"/>
          <p:nvPr/>
        </p:nvSpPr>
        <p:spPr>
          <a:xfrm>
            <a:off x="7607808" y="4526280"/>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Sai lệch nhiều hay ít?</a:t>
            </a:r>
          </a:p>
        </p:txBody>
      </p:sp>
      <p:sp>
        <p:nvSpPr>
          <p:cNvPr id="48" name="Rectangle 47"/>
          <p:cNvSpPr/>
          <p:nvPr/>
        </p:nvSpPr>
        <p:spPr>
          <a:xfrm>
            <a:off x="640080" y="4864608"/>
            <a:ext cx="10881360" cy="402336"/>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4928616"/>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EdgeRecall ↑</a:t>
            </a:r>
          </a:p>
        </p:txBody>
      </p:sp>
      <p:sp>
        <p:nvSpPr>
          <p:cNvPr id="50" name="TextBox 49"/>
          <p:cNvSpPr txBox="1"/>
          <p:nvPr/>
        </p:nvSpPr>
        <p:spPr>
          <a:xfrm>
            <a:off x="2304288" y="4928616"/>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Tách biên Canny cả hai ảnh, đếm % biên GỐC còn tìm thấy</a:t>
            </a:r>
          </a:p>
        </p:txBody>
      </p:sp>
      <p:sp>
        <p:nvSpPr>
          <p:cNvPr id="51" name="TextBox 50"/>
          <p:cNvSpPr txBox="1"/>
          <p:nvPr/>
        </p:nvSpPr>
        <p:spPr>
          <a:xfrm>
            <a:off x="7607808" y="4928616"/>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Hình dáng vật thể còn nguyên? ⇒ nhãn còn dùng được?</a:t>
            </a:r>
          </a:p>
        </p:txBody>
      </p:sp>
      <p:sp>
        <p:nvSpPr>
          <p:cNvPr id="52" name="Rectangle 51"/>
          <p:cNvSpPr/>
          <p:nvPr/>
        </p:nvSpPr>
        <p:spPr>
          <a:xfrm>
            <a:off x="640080" y="5266944"/>
            <a:ext cx="10881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8" y="5330952"/>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FID ↓</a:t>
            </a:r>
          </a:p>
        </p:txBody>
      </p:sp>
      <p:sp>
        <p:nvSpPr>
          <p:cNvPr id="54" name="TextBox 53"/>
          <p:cNvSpPr txBox="1"/>
          <p:nvPr/>
        </p:nvSpPr>
        <p:spPr>
          <a:xfrm>
            <a:off x="2304288" y="5330952"/>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Khoảng cách phân bố đặc trưng InceptionV3 với ảnh mưa/tuyết THẬT</a:t>
            </a:r>
          </a:p>
        </p:txBody>
      </p:sp>
      <p:sp>
        <p:nvSpPr>
          <p:cNvPr id="55" name="TextBox 54"/>
          <p:cNvSpPr txBox="1"/>
          <p:nvPr/>
        </p:nvSpPr>
        <p:spPr>
          <a:xfrm>
            <a:off x="7607808" y="5330952"/>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sinh ra có giống ảnh chụp thật không?</a:t>
            </a:r>
          </a:p>
        </p:txBody>
      </p:sp>
      <p:sp>
        <p:nvSpPr>
          <p:cNvPr id="56" name="TextBox 55"/>
          <p:cNvSpPr txBox="1"/>
          <p:nvPr/>
        </p:nvSpPr>
        <p:spPr>
          <a:xfrm>
            <a:off x="640080" y="5760720"/>
            <a:ext cx="10881360" cy="73152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Không phương pháp nào thắng tuyệt đối: bản đề xuất giữ nội dung tốt nhất (SSIM, PSNR), còn AdaIN thuần thắng FID vì lớp phủ hạt là dấu vết tổng hợp bị Inception phạt.</a:t>
            </a:r>
          </a:p>
          <a:p>
            <a:pPr algn="l">
              <a:lnSpc>
                <a:spcPct val="115000"/>
              </a:lnSpc>
              <a:spcAft>
                <a:spcPts val="600"/>
              </a:spcAft>
            </a:pPr>
            <a:r>
              <a:rPr sz="1300" b="1">
                <a:solidFill>
                  <a:srgbClr val="101B33"/>
                </a:solidFill>
                <a:latin typeface="Arial"/>
              </a:rPr>
              <a:t>⇒ Với ảnh dashcam nên giảm mật độ hạt — mưa thật qua kính chắn gió gần như không thấy vệt rời.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Thí nghiệm quyết định: dữ liệu này có thực sự hữu ích?</a:t>
            </a:r>
          </a:p>
          <a:p>
            <a:pPr algn="l">
              <a:lnSpc>
                <a:spcPct val="115000"/>
              </a:lnSpc>
              <a:spcAft>
                <a:spcPts val="600"/>
              </a:spcAft>
            </a:pPr>
            <a:r>
              <a:rPr sz="1300" b="0">
                <a:solidFill>
                  <a:srgbClr val="B6C2D9"/>
                </a:solidFill>
                <a:latin typeface="Arial"/>
              </a:rPr>
              <a:t>YOLOv8n — chỉ khác nhau ở tập huấn luyện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13</a:t>
            </a:r>
          </a:p>
        </p:txBody>
      </p:sp>
      <p:sp>
        <p:nvSpPr>
          <p:cNvPr id="6" name="TextBox 5"/>
          <p:cNvSpPr txBox="1"/>
          <p:nvPr/>
        </p:nvSpPr>
        <p:spPr>
          <a:xfrm>
            <a:off x="640080" y="1234440"/>
            <a:ext cx="10881360" cy="1188720"/>
          </a:xfrm>
          <a:prstGeom prst="rect">
            <a:avLst/>
          </a:prstGeom>
          <a:noFill/>
        </p:spPr>
        <p:txBody>
          <a:bodyPr wrap="square" lIns="0" rIns="0">
            <a:spAutoFit/>
          </a:bodyPr>
          <a:lstStyle/>
          <a:p>
            <a:pPr algn="l">
              <a:lnSpc>
                <a:spcPct val="115000"/>
              </a:lnSpc>
              <a:spcAft>
                <a:spcPts val="600"/>
              </a:spcAft>
            </a:pPr>
            <a:r>
              <a:rPr sz="1500" b="1">
                <a:solidFill>
                  <a:srgbClr val="101B33"/>
                </a:solidFill>
                <a:latin typeface="Arial"/>
              </a:rPr>
              <a:t>A. Baseline: ảnh trời quang   ·   B. Baseline-long: cùng ảnh đó, gấp đôi epoch   ·   C. Augmented: ảnh trời quang + ảnh sinh ra</a:t>
            </a:r>
          </a:p>
          <a:p>
            <a:pPr algn="l">
              <a:lnSpc>
                <a:spcPct val="115000"/>
              </a:lnSpc>
              <a:spcAft>
                <a:spcPts val="600"/>
              </a:spcAft>
            </a:pPr>
            <a:r>
              <a:rPr sz="1300" b="0">
                <a:solidFill>
                  <a:srgbClr val="5A6375"/>
                </a:solidFill>
                <a:latin typeface="Arial"/>
              </a:rPr>
              <a:t>Nhánh B có ĐÚNG số bước cập nhật như C nhưng không có dữ liệu mới ⇒ so sánh công bằng là C − B. Cả hai đánh giá trên cùng tập test: ảnh mưa/tuyết THẬT của BDD100K, chưa từng dùng ở bất kỳ khâu nào khác.</a:t>
            </a:r>
          </a:p>
        </p:txBody>
      </p:sp>
      <p:sp>
        <p:nvSpPr>
          <p:cNvPr id="7" name="Rectangle 6"/>
          <p:cNvSpPr/>
          <p:nvPr/>
        </p:nvSpPr>
        <p:spPr>
          <a:xfrm>
            <a:off x="640080" y="260604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70048"/>
            <a:ext cx="3348110"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Tập kiểm tra</a:t>
            </a:r>
          </a:p>
        </p:txBody>
      </p:sp>
      <p:sp>
        <p:nvSpPr>
          <p:cNvPr id="9" name="TextBox 8"/>
          <p:cNvSpPr txBox="1"/>
          <p:nvPr/>
        </p:nvSpPr>
        <p:spPr>
          <a:xfrm>
            <a:off x="4097918"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A. Baseline</a:t>
            </a:r>
          </a:p>
        </p:txBody>
      </p:sp>
      <p:sp>
        <p:nvSpPr>
          <p:cNvPr id="10" name="TextBox 9"/>
          <p:cNvSpPr txBox="1"/>
          <p:nvPr/>
        </p:nvSpPr>
        <p:spPr>
          <a:xfrm>
            <a:off x="5864976"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B. Baseline-long</a:t>
            </a:r>
          </a:p>
        </p:txBody>
      </p:sp>
      <p:sp>
        <p:nvSpPr>
          <p:cNvPr id="11" name="TextBox 10"/>
          <p:cNvSpPr txBox="1"/>
          <p:nvPr/>
        </p:nvSpPr>
        <p:spPr>
          <a:xfrm>
            <a:off x="7632034"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Tăng cường</a:t>
            </a:r>
          </a:p>
        </p:txBody>
      </p:sp>
      <p:sp>
        <p:nvSpPr>
          <p:cNvPr id="12" name="TextBox 11"/>
          <p:cNvSpPr txBox="1"/>
          <p:nvPr/>
        </p:nvSpPr>
        <p:spPr>
          <a:xfrm>
            <a:off x="9399092" y="2670048"/>
            <a:ext cx="2232073"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B</a:t>
            </a:r>
          </a:p>
        </p:txBody>
      </p:sp>
      <p:sp>
        <p:nvSpPr>
          <p:cNvPr id="13" name="Rectangle 12"/>
          <p:cNvSpPr/>
          <p:nvPr/>
        </p:nvSpPr>
        <p:spPr>
          <a:xfrm>
            <a:off x="640080" y="30632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1272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a:t>
            </a:r>
          </a:p>
        </p:txBody>
      </p:sp>
      <p:sp>
        <p:nvSpPr>
          <p:cNvPr id="15" name="TextBox 14"/>
          <p:cNvSpPr txBox="1"/>
          <p:nvPr/>
        </p:nvSpPr>
        <p:spPr>
          <a:xfrm>
            <a:off x="4097918"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0.2363</a:t>
            </a:r>
          </a:p>
        </p:txBody>
      </p:sp>
      <p:sp>
        <p:nvSpPr>
          <p:cNvPr id="16" name="TextBox 15"/>
          <p:cNvSpPr txBox="1"/>
          <p:nvPr/>
        </p:nvSpPr>
        <p:spPr>
          <a:xfrm>
            <a:off x="5864976"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0.2451</a:t>
            </a:r>
          </a:p>
        </p:txBody>
      </p:sp>
      <p:sp>
        <p:nvSpPr>
          <p:cNvPr id="17" name="TextBox 16"/>
          <p:cNvSpPr txBox="1"/>
          <p:nvPr/>
        </p:nvSpPr>
        <p:spPr>
          <a:xfrm>
            <a:off x="7632034"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0.2603</a:t>
            </a:r>
          </a:p>
        </p:txBody>
      </p:sp>
      <p:sp>
        <p:nvSpPr>
          <p:cNvPr id="18" name="TextBox 17"/>
          <p:cNvSpPr txBox="1"/>
          <p:nvPr/>
        </p:nvSpPr>
        <p:spPr>
          <a:xfrm>
            <a:off x="9399092" y="31272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+0.0153 (+6.2%)</a:t>
            </a:r>
          </a:p>
        </p:txBody>
      </p:sp>
      <p:sp>
        <p:nvSpPr>
          <p:cNvPr id="19" name="Rectangle 18"/>
          <p:cNvSpPr/>
          <p:nvPr/>
        </p:nvSpPr>
        <p:spPr>
          <a:xfrm>
            <a:off x="640080" y="35204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844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mAP50-95</a:t>
            </a:r>
          </a:p>
        </p:txBody>
      </p:sp>
      <p:sp>
        <p:nvSpPr>
          <p:cNvPr id="21" name="TextBox 20"/>
          <p:cNvSpPr txBox="1"/>
          <p:nvPr/>
        </p:nvSpPr>
        <p:spPr>
          <a:xfrm>
            <a:off x="4097918"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0.1299</a:t>
            </a:r>
          </a:p>
        </p:txBody>
      </p:sp>
      <p:sp>
        <p:nvSpPr>
          <p:cNvPr id="22" name="TextBox 21"/>
          <p:cNvSpPr txBox="1"/>
          <p:nvPr/>
        </p:nvSpPr>
        <p:spPr>
          <a:xfrm>
            <a:off x="5864976"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0.1339</a:t>
            </a:r>
          </a:p>
        </p:txBody>
      </p:sp>
      <p:sp>
        <p:nvSpPr>
          <p:cNvPr id="23" name="TextBox 22"/>
          <p:cNvSpPr txBox="1"/>
          <p:nvPr/>
        </p:nvSpPr>
        <p:spPr>
          <a:xfrm>
            <a:off x="7632034"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0.1411</a:t>
            </a:r>
          </a:p>
        </p:txBody>
      </p:sp>
      <p:sp>
        <p:nvSpPr>
          <p:cNvPr id="24" name="TextBox 23"/>
          <p:cNvSpPr txBox="1"/>
          <p:nvPr/>
        </p:nvSpPr>
        <p:spPr>
          <a:xfrm>
            <a:off x="9399092" y="35844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+0.0072 (+5.3%)</a:t>
            </a:r>
          </a:p>
        </p:txBody>
      </p:sp>
      <p:sp>
        <p:nvSpPr>
          <p:cNvPr id="25" name="Rectangle 24"/>
          <p:cNvSpPr/>
          <p:nvPr/>
        </p:nvSpPr>
        <p:spPr>
          <a:xfrm>
            <a:off x="640080" y="39776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0416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a:t>
            </a:r>
          </a:p>
        </p:txBody>
      </p:sp>
      <p:sp>
        <p:nvSpPr>
          <p:cNvPr id="27" name="TextBox 26"/>
          <p:cNvSpPr txBox="1"/>
          <p:nvPr/>
        </p:nvSpPr>
        <p:spPr>
          <a:xfrm>
            <a:off x="4097918"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0.3028</a:t>
            </a:r>
          </a:p>
        </p:txBody>
      </p:sp>
      <p:sp>
        <p:nvSpPr>
          <p:cNvPr id="28" name="TextBox 27"/>
          <p:cNvSpPr txBox="1"/>
          <p:nvPr/>
        </p:nvSpPr>
        <p:spPr>
          <a:xfrm>
            <a:off x="5864976"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0.3204</a:t>
            </a:r>
          </a:p>
        </p:txBody>
      </p:sp>
      <p:sp>
        <p:nvSpPr>
          <p:cNvPr id="29" name="TextBox 28"/>
          <p:cNvSpPr txBox="1"/>
          <p:nvPr/>
        </p:nvSpPr>
        <p:spPr>
          <a:xfrm>
            <a:off x="7632034"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0.3349</a:t>
            </a:r>
          </a:p>
        </p:txBody>
      </p:sp>
      <p:sp>
        <p:nvSpPr>
          <p:cNvPr id="30" name="TextBox 29"/>
          <p:cNvSpPr txBox="1"/>
          <p:nvPr/>
        </p:nvSpPr>
        <p:spPr>
          <a:xfrm>
            <a:off x="9399092" y="40416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+0.0145 (+4.5%)</a:t>
            </a:r>
          </a:p>
        </p:txBody>
      </p:sp>
      <p:sp>
        <p:nvSpPr>
          <p:cNvPr id="31" name="Rectangle 30"/>
          <p:cNvSpPr/>
          <p:nvPr/>
        </p:nvSpPr>
        <p:spPr>
          <a:xfrm>
            <a:off x="640080" y="44348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988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mAP50-95</a:t>
            </a:r>
          </a:p>
        </p:txBody>
      </p:sp>
      <p:sp>
        <p:nvSpPr>
          <p:cNvPr id="33" name="TextBox 32"/>
          <p:cNvSpPr txBox="1"/>
          <p:nvPr/>
        </p:nvSpPr>
        <p:spPr>
          <a:xfrm>
            <a:off x="4097918"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0.1727</a:t>
            </a:r>
          </a:p>
        </p:txBody>
      </p:sp>
      <p:sp>
        <p:nvSpPr>
          <p:cNvPr id="34" name="TextBox 33"/>
          <p:cNvSpPr txBox="1"/>
          <p:nvPr/>
        </p:nvSpPr>
        <p:spPr>
          <a:xfrm>
            <a:off x="5864976"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0.1797</a:t>
            </a:r>
          </a:p>
        </p:txBody>
      </p:sp>
      <p:sp>
        <p:nvSpPr>
          <p:cNvPr id="35" name="TextBox 34"/>
          <p:cNvSpPr txBox="1"/>
          <p:nvPr/>
        </p:nvSpPr>
        <p:spPr>
          <a:xfrm>
            <a:off x="7632034"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0.1877</a:t>
            </a:r>
          </a:p>
        </p:txBody>
      </p:sp>
      <p:sp>
        <p:nvSpPr>
          <p:cNvPr id="36" name="TextBox 35"/>
          <p:cNvSpPr txBox="1"/>
          <p:nvPr/>
        </p:nvSpPr>
        <p:spPr>
          <a:xfrm>
            <a:off x="9399092" y="44988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+0.0080 (+4.5%)</a:t>
            </a:r>
          </a:p>
        </p:txBody>
      </p:sp>
      <p:sp>
        <p:nvSpPr>
          <p:cNvPr id="37" name="TextBox 36"/>
          <p:cNvSpPr txBox="1"/>
          <p:nvPr/>
        </p:nvSpPr>
        <p:spPr>
          <a:xfrm>
            <a:off x="640080" y="5760720"/>
            <a:ext cx="10881360" cy="822960"/>
          </a:xfrm>
          <a:prstGeom prst="rect">
            <a:avLst/>
          </a:prstGeom>
          <a:noFill/>
        </p:spPr>
        <p:txBody>
          <a:bodyPr wrap="square" lIns="0" rIns="0">
            <a:spAutoFit/>
          </a:bodyPr>
          <a:lstStyle/>
          <a:p>
            <a:pPr algn="l">
              <a:lnSpc>
                <a:spcPct val="115000"/>
              </a:lnSpc>
              <a:spcAft>
                <a:spcPts val="600"/>
              </a:spcAft>
            </a:pPr>
            <a:r>
              <a:rPr sz="1400" b="0">
                <a:solidFill>
                  <a:srgbClr val="5A6375"/>
                </a:solidFill>
                <a:latin typeface="Arial"/>
              </a:rPr>
              <a:t>Hàng 'trời quang' là đối chứng: xác nhận việc thêm dữ liệu tăng cường không làm mô hình kém đi trên điều kiện bình thường.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0A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4572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
            <a:ext cx="10698480" cy="640080"/>
          </a:xfrm>
          <a:prstGeom prst="rect">
            <a:avLst/>
          </a:prstGeom>
          <a:noFill/>
        </p:spPr>
        <p:txBody>
          <a:bodyPr wrap="square" lIns="0" rIns="0">
            <a:spAutoFit/>
          </a:bodyPr>
          <a:lstStyle/>
          <a:p>
            <a:pPr algn="l">
              <a:lnSpc>
                <a:spcPct val="115000"/>
              </a:lnSpc>
              <a:spcAft>
                <a:spcPts val="600"/>
              </a:spcAft>
            </a:pPr>
            <a:r>
              <a:rPr sz="3000" b="1">
                <a:solidFill>
                  <a:srgbClr val="FFFFFF"/>
                </a:solidFill>
                <a:latin typeface="Arial"/>
              </a:rPr>
              <a:t>KẾT LUẬN &amp; HƯỚNG PHÁT TRIỂN</a:t>
            </a:r>
          </a:p>
        </p:txBody>
      </p:sp>
      <p:sp>
        <p:nvSpPr>
          <p:cNvPr id="6" name="Rectangle 5"/>
          <p:cNvSpPr/>
          <p:nvPr/>
        </p:nvSpPr>
        <p:spPr>
          <a:xfrm>
            <a:off x="640080" y="1234440"/>
            <a:ext cx="54864" cy="265176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188720"/>
            <a:ext cx="10607040" cy="2743200"/>
          </a:xfrm>
          <a:prstGeom prst="rect">
            <a:avLst/>
          </a:prstGeom>
          <a:noFill/>
        </p:spPr>
        <p:txBody>
          <a:bodyPr wrap="square" lIns="0" rIns="0">
            <a:spAutoFit/>
          </a:bodyPr>
          <a:lstStyle/>
          <a:p>
            <a:pPr algn="l">
              <a:lnSpc>
                <a:spcPct val="122000"/>
              </a:lnSpc>
              <a:spcAft>
                <a:spcPts val="600"/>
              </a:spcAft>
            </a:pPr>
            <a:r>
              <a:rPr sz="1600" b="0">
                <a:solidFill>
                  <a:srgbClr val="D5DEEC"/>
                </a:solidFill>
                <a:latin typeface="Arial"/>
              </a:rPr>
              <a:t>· Pipeline hoàn chỉnh sinh ảnh thời tiết xấu từ 2 ảnh đầu vào, đúng yêu cầu đề bài.</a:t>
            </a:r>
          </a:p>
          <a:p>
            <a:pPr algn="l">
              <a:lnSpc>
                <a:spcPct val="122000"/>
              </a:lnSpc>
              <a:spcAft>
                <a:spcPts val="600"/>
              </a:spcAft>
            </a:pPr>
            <a:r>
              <a:rPr sz="1600" b="0">
                <a:solidFill>
                  <a:srgbClr val="D5DEEC"/>
                </a:solidFill>
                <a:latin typeface="Arial"/>
              </a:rPr>
              <a:t>· Mã nguồn mở; chỉ 3,51 M tham số được học, huấn luyện 37 phút trên 1 GPU tiêu dùng.</a:t>
            </a:r>
          </a:p>
          <a:p>
            <a:pPr algn="l">
              <a:lnSpc>
                <a:spcPct val="122000"/>
              </a:lnSpc>
              <a:spcAft>
                <a:spcPts val="600"/>
              </a:spcAft>
            </a:pPr>
            <a:r>
              <a:rPr sz="1600" b="0">
                <a:solidFill>
                  <a:srgbClr val="D5DEEC"/>
                </a:solidFill>
                <a:latin typeface="Arial"/>
              </a:rPr>
              <a:t>· Nhãn bounding box tái sử dụng 100% — chi phí gán nhãn cho dữ liệu mới bằng 0.</a:t>
            </a:r>
          </a:p>
          <a:p>
            <a:pPr algn="l">
              <a:lnSpc>
                <a:spcPct val="122000"/>
              </a:lnSpc>
              <a:spcAft>
                <a:spcPts val="600"/>
              </a:spcAft>
            </a:pPr>
            <a:r>
              <a:rPr sz="1600" b="0">
                <a:solidFill>
                  <a:srgbClr val="D5DEEC"/>
                </a:solidFill>
                <a:latin typeface="Arial"/>
              </a:rPr>
              <a:t>· Kiểm chứng bằng thí nghiệm thật: mAP50 trên ảnh thời tiết xấu thật tăng +6,2%.</a:t>
            </a:r>
          </a:p>
          <a:p>
            <a:pPr algn="l">
              <a:lnSpc>
                <a:spcPct val="122000"/>
              </a:lnSpc>
              <a:spcAft>
                <a:spcPts val="600"/>
              </a:spcAft>
            </a:pPr>
            <a:r>
              <a:rPr sz="1600" b="0">
                <a:solidFill>
                  <a:srgbClr val="D5DEEC"/>
                </a:solidFill>
                <a:latin typeface="Arial"/>
              </a:rPr>
              <a:t>· Bàn giao mã nguồn chạy bằng 1 lệnh, web demo Gradio, báo cáo và slide.</a:t>
            </a:r>
          </a:p>
        </p:txBody>
      </p:sp>
      <p:sp>
        <p:nvSpPr>
          <p:cNvPr id="8" name="Rectangle 7"/>
          <p:cNvSpPr/>
          <p:nvPr/>
        </p:nvSpPr>
        <p:spPr>
          <a:xfrm>
            <a:off x="640080" y="4114800"/>
            <a:ext cx="5349240" cy="1920240"/>
          </a:xfrm>
          <a:prstGeom prst="rect">
            <a:avLst/>
          </a:prstGeom>
          <a:solidFill>
            <a:srgbClr val="162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114800"/>
            <a:ext cx="54864" cy="1920240"/>
          </a:xfrm>
          <a:prstGeom prst="rect">
            <a:avLst/>
          </a:prstGeom>
          <a:solidFill>
            <a:srgbClr val="E4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251960"/>
            <a:ext cx="4937760" cy="1783080"/>
          </a:xfrm>
          <a:prstGeom prst="rect">
            <a:avLst/>
          </a:prstGeom>
          <a:noFill/>
        </p:spPr>
        <p:txBody>
          <a:bodyPr wrap="square" lIns="0" rIns="0">
            <a:spAutoFit/>
          </a:bodyPr>
          <a:lstStyle/>
          <a:p>
            <a:pPr algn="l">
              <a:lnSpc>
                <a:spcPct val="115000"/>
              </a:lnSpc>
              <a:spcAft>
                <a:spcPts val="600"/>
              </a:spcAft>
            </a:pPr>
            <a:r>
              <a:rPr sz="1400" b="1">
                <a:solidFill>
                  <a:srgbClr val="E45A5A"/>
                </a:solidFill>
                <a:latin typeface="Arial"/>
              </a:rPr>
              <a:t>HẠN CHẾ</a:t>
            </a:r>
          </a:p>
          <a:p>
            <a:pPr algn="l">
              <a:lnSpc>
                <a:spcPct val="115000"/>
              </a:lnSpc>
              <a:spcAft>
                <a:spcPts val="600"/>
              </a:spcAft>
            </a:pPr>
            <a:r>
              <a:rPr sz="1200" b="0">
                <a:solidFill>
                  <a:srgbClr val="B6C2D9"/>
                </a:solidFill>
                <a:latin typeface="Arial"/>
              </a:rPr>
              <a:t>· AdaIN chuyển thống kê TOÀN CỤC, chưa phân biệt vùng trời / mặt đường.
· Không có bản đồ độ sâu thật; module vật lý giả thiết mặt đường phẳng.
· Lớp phủ hạt làm giảm FID trên ảnh dashcam.
· DAWN chỉ dùng cho nghiên cứu, không dùng thương mại.</a:t>
            </a:r>
          </a:p>
        </p:txBody>
      </p:sp>
      <p:sp>
        <p:nvSpPr>
          <p:cNvPr id="11" name="Rectangle 10"/>
          <p:cNvSpPr/>
          <p:nvPr/>
        </p:nvSpPr>
        <p:spPr>
          <a:xfrm>
            <a:off x="6355080" y="4114800"/>
            <a:ext cx="5349240" cy="1920240"/>
          </a:xfrm>
          <a:prstGeom prst="rect">
            <a:avLst/>
          </a:prstGeom>
          <a:solidFill>
            <a:srgbClr val="162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4114800"/>
            <a:ext cx="54864" cy="192024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4251960"/>
            <a:ext cx="4937760" cy="1783080"/>
          </a:xfrm>
          <a:prstGeom prst="rect">
            <a:avLst/>
          </a:prstGeom>
          <a:noFill/>
        </p:spPr>
        <p:txBody>
          <a:bodyPr wrap="square" lIns="0" rIns="0">
            <a:spAutoFit/>
          </a:bodyPr>
          <a:lstStyle/>
          <a:p>
            <a:pPr algn="l">
              <a:lnSpc>
                <a:spcPct val="115000"/>
              </a:lnSpc>
              <a:spcAft>
                <a:spcPts val="600"/>
              </a:spcAft>
            </a:pPr>
            <a:r>
              <a:rPr sz="1400" b="1">
                <a:solidFill>
                  <a:srgbClr val="18A099"/>
                </a:solidFill>
                <a:latin typeface="Arial"/>
              </a:rPr>
              <a:t>HƯỚNG PHÁT TRIỂN</a:t>
            </a:r>
          </a:p>
          <a:p>
            <a:pPr algn="l">
              <a:lnSpc>
                <a:spcPct val="115000"/>
              </a:lnSpc>
              <a:spcAft>
                <a:spcPts val="600"/>
              </a:spcAft>
            </a:pPr>
            <a:r>
              <a:rPr sz="1200" b="0">
                <a:solidFill>
                  <a:srgbClr val="B6C2D9"/>
                </a:solidFill>
                <a:latin typeface="Arial"/>
              </a:rPr>
              <a:t>· Thêm mặt nạ phân vùng trời / đường để đổi tông theo từng vùng.
· Dùng mô hình ước lượng độ sâu đơn ảnh (Depth Anything).
· Thay AdaIN bằng AdaAttN / WCT² để bám cấu trúc tốt hơn.
· Thu thập ảnh tham chiếu thời tiết tại Việt Nam.</a:t>
            </a:r>
          </a:p>
        </p:txBody>
      </p:sp>
      <p:sp>
        <p:nvSpPr>
          <p:cNvPr id="14" name="TextBox 13"/>
          <p:cNvSpPr txBox="1"/>
          <p:nvPr/>
        </p:nvSpPr>
        <p:spPr>
          <a:xfrm>
            <a:off x="640080" y="6263640"/>
            <a:ext cx="10881360" cy="457200"/>
          </a:xfrm>
          <a:prstGeom prst="rect">
            <a:avLst/>
          </a:prstGeom>
          <a:noFill/>
        </p:spPr>
        <p:txBody>
          <a:bodyPr wrap="square" lIns="0" rIns="0">
            <a:spAutoFit/>
          </a:bodyPr>
          <a:lstStyle/>
          <a:p>
            <a:pPr algn="ctr">
              <a:lnSpc>
                <a:spcPct val="115000"/>
              </a:lnSpc>
              <a:spcAft>
                <a:spcPts val="600"/>
              </a:spcAft>
            </a:pPr>
            <a:r>
              <a:rPr sz="2000" b="1">
                <a:solidFill>
                  <a:srgbClr val="18A099"/>
                </a:solidFill>
                <a:latin typeface="Arial"/>
              </a:rPr>
              <a:t>Nhóm 6  —  Xin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